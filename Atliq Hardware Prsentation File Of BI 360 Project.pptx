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3" r:id="rId8"/>
    <p:sldId id="264" r:id="rId9"/>
  </p:sldIdLst>
  <p:sldSz cx="18288000" cy="10287000"/>
  <p:notesSz cx="6858000" cy="9144000"/>
  <p:embeddedFontLst>
    <p:embeddedFont>
      <p:font typeface="Calibri (MS) Bold" panose="020B0604020202020204" charset="0"/>
      <p:regular r:id="rId10"/>
    </p:embeddedFont>
    <p:embeddedFont>
      <p:font typeface="Canva Sans" panose="020B0604020202020204" charset="0"/>
      <p:regular r:id="rId11"/>
    </p:embeddedFont>
    <p:embeddedFont>
      <p:font typeface="Canva Sans Bold" panose="020B0604020202020204" charset="0"/>
      <p:regular r:id="rId12"/>
    </p:embeddedFont>
    <p:embeddedFont>
      <p:font typeface="Clear Sans" panose="020B0604020202020204" charset="0"/>
      <p:regular r:id="rId13"/>
    </p:embeddedFont>
    <p:embeddedFont>
      <p:font typeface="Clear Sans Bold" panose="020B0604020202020204" charset="0"/>
      <p:regular r:id="rId14"/>
    </p:embeddedFont>
    <p:embeddedFont>
      <p:font typeface="Hammersmith One" panose="02010703030501060504"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CED"/>
    <a:srgbClr val="E8C7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78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svg"/><Relationship Id="rId7" Type="http://schemas.openxmlformats.org/officeDocument/2006/relationships/image" Target="../media/image15.jpe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3" Type="http://schemas.openxmlformats.org/officeDocument/2006/relationships/image" Target="../media/image26.svg"/><Relationship Id="rId18" Type="http://schemas.openxmlformats.org/officeDocument/2006/relationships/image" Target="../media/image31.png"/><Relationship Id="rId26" Type="http://schemas.openxmlformats.org/officeDocument/2006/relationships/image" Target="../media/image39.png"/><Relationship Id="rId39" Type="http://schemas.openxmlformats.org/officeDocument/2006/relationships/image" Target="../media/image52.svg"/><Relationship Id="rId3" Type="http://schemas.openxmlformats.org/officeDocument/2006/relationships/image" Target="../media/image6.svg"/><Relationship Id="rId21" Type="http://schemas.openxmlformats.org/officeDocument/2006/relationships/image" Target="../media/image34.svg"/><Relationship Id="rId34" Type="http://schemas.openxmlformats.org/officeDocument/2006/relationships/image" Target="../media/image47.png"/><Relationship Id="rId42" Type="http://schemas.openxmlformats.org/officeDocument/2006/relationships/image" Target="../media/image54.svg"/><Relationship Id="rId47" Type="http://schemas.openxmlformats.org/officeDocument/2006/relationships/image" Target="../media/image59.svg"/><Relationship Id="rId50" Type="http://schemas.openxmlformats.org/officeDocument/2006/relationships/image" Target="../media/image61.png"/><Relationship Id="rId7" Type="http://schemas.openxmlformats.org/officeDocument/2006/relationships/image" Target="../media/image20.svg"/><Relationship Id="rId12" Type="http://schemas.openxmlformats.org/officeDocument/2006/relationships/image" Target="../media/image25.png"/><Relationship Id="rId17" Type="http://schemas.openxmlformats.org/officeDocument/2006/relationships/image" Target="../media/image30.svg"/><Relationship Id="rId25" Type="http://schemas.openxmlformats.org/officeDocument/2006/relationships/image" Target="../media/image38.svg"/><Relationship Id="rId33" Type="http://schemas.openxmlformats.org/officeDocument/2006/relationships/image" Target="../media/image46.svg"/><Relationship Id="rId38" Type="http://schemas.openxmlformats.org/officeDocument/2006/relationships/image" Target="../media/image51.png"/><Relationship Id="rId46" Type="http://schemas.openxmlformats.org/officeDocument/2006/relationships/image" Target="../media/image58.png"/><Relationship Id="rId2" Type="http://schemas.openxmlformats.org/officeDocument/2006/relationships/image" Target="../media/image5.png"/><Relationship Id="rId16" Type="http://schemas.openxmlformats.org/officeDocument/2006/relationships/image" Target="../media/image29.png"/><Relationship Id="rId20" Type="http://schemas.openxmlformats.org/officeDocument/2006/relationships/image" Target="../media/image33.png"/><Relationship Id="rId29" Type="http://schemas.openxmlformats.org/officeDocument/2006/relationships/image" Target="../media/image42.svg"/><Relationship Id="rId41" Type="http://schemas.openxmlformats.org/officeDocument/2006/relationships/image" Target="../media/image53.png"/><Relationship Id="rId54" Type="http://schemas.openxmlformats.org/officeDocument/2006/relationships/image" Target="../media/image65.sv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svg"/><Relationship Id="rId24" Type="http://schemas.openxmlformats.org/officeDocument/2006/relationships/image" Target="../media/image37.png"/><Relationship Id="rId32" Type="http://schemas.openxmlformats.org/officeDocument/2006/relationships/image" Target="../media/image45.png"/><Relationship Id="rId37" Type="http://schemas.openxmlformats.org/officeDocument/2006/relationships/image" Target="../media/image50.svg"/><Relationship Id="rId40" Type="http://schemas.openxmlformats.org/officeDocument/2006/relationships/image" Target="../media/image12.png"/><Relationship Id="rId45" Type="http://schemas.openxmlformats.org/officeDocument/2006/relationships/image" Target="../media/image57.svg"/><Relationship Id="rId53" Type="http://schemas.openxmlformats.org/officeDocument/2006/relationships/image" Target="../media/image64.png"/><Relationship Id="rId5" Type="http://schemas.openxmlformats.org/officeDocument/2006/relationships/image" Target="../media/image18.svg"/><Relationship Id="rId15" Type="http://schemas.openxmlformats.org/officeDocument/2006/relationships/image" Target="../media/image28.svg"/><Relationship Id="rId23" Type="http://schemas.openxmlformats.org/officeDocument/2006/relationships/image" Target="../media/image36.svg"/><Relationship Id="rId28" Type="http://schemas.openxmlformats.org/officeDocument/2006/relationships/image" Target="../media/image41.png"/><Relationship Id="rId36" Type="http://schemas.openxmlformats.org/officeDocument/2006/relationships/image" Target="../media/image49.png"/><Relationship Id="rId49" Type="http://schemas.openxmlformats.org/officeDocument/2006/relationships/image" Target="../media/image60.png"/><Relationship Id="rId10" Type="http://schemas.openxmlformats.org/officeDocument/2006/relationships/image" Target="../media/image23.png"/><Relationship Id="rId19" Type="http://schemas.openxmlformats.org/officeDocument/2006/relationships/image" Target="../media/image32.svg"/><Relationship Id="rId31" Type="http://schemas.openxmlformats.org/officeDocument/2006/relationships/image" Target="../media/image44.svg"/><Relationship Id="rId44" Type="http://schemas.openxmlformats.org/officeDocument/2006/relationships/image" Target="../media/image56.png"/><Relationship Id="rId52" Type="http://schemas.openxmlformats.org/officeDocument/2006/relationships/image" Target="../media/image63.pn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27.png"/><Relationship Id="rId22" Type="http://schemas.openxmlformats.org/officeDocument/2006/relationships/image" Target="../media/image35.png"/><Relationship Id="rId27" Type="http://schemas.openxmlformats.org/officeDocument/2006/relationships/image" Target="../media/image40.svg"/><Relationship Id="rId30" Type="http://schemas.openxmlformats.org/officeDocument/2006/relationships/image" Target="../media/image43.png"/><Relationship Id="rId35" Type="http://schemas.openxmlformats.org/officeDocument/2006/relationships/image" Target="../media/image48.svg"/><Relationship Id="rId43" Type="http://schemas.openxmlformats.org/officeDocument/2006/relationships/image" Target="../media/image55.png"/><Relationship Id="rId48" Type="http://schemas.openxmlformats.org/officeDocument/2006/relationships/image" Target="../media/image4.png"/><Relationship Id="rId8" Type="http://schemas.openxmlformats.org/officeDocument/2006/relationships/image" Target="../media/image21.png"/><Relationship Id="rId51" Type="http://schemas.openxmlformats.org/officeDocument/2006/relationships/image" Target="../media/image62.png"/></Relationships>
</file>

<file path=ppt/slides/_rels/slide8.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svg"/><Relationship Id="rId7" Type="http://schemas.openxmlformats.org/officeDocument/2006/relationships/image" Target="../media/image69.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sv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Freeform 2"/>
          <p:cNvSpPr/>
          <p:nvPr/>
        </p:nvSpPr>
        <p:spPr>
          <a:xfrm>
            <a:off x="7944166" y="6587591"/>
            <a:ext cx="9600884" cy="583077"/>
          </a:xfrm>
          <a:custGeom>
            <a:avLst/>
            <a:gdLst/>
            <a:ahLst/>
            <a:cxnLst/>
            <a:rect l="l" t="t" r="r" b="b"/>
            <a:pathLst>
              <a:path w="9600884" h="583077">
                <a:moveTo>
                  <a:pt x="0" y="0"/>
                </a:moveTo>
                <a:lnTo>
                  <a:pt x="9600884" y="0"/>
                </a:lnTo>
                <a:lnTo>
                  <a:pt x="9600884" y="583077"/>
                </a:lnTo>
                <a:lnTo>
                  <a:pt x="0" y="583077"/>
                </a:lnTo>
                <a:lnTo>
                  <a:pt x="0" y="0"/>
                </a:lnTo>
                <a:close/>
              </a:path>
            </a:pathLst>
          </a:custGeom>
          <a:blipFill>
            <a:blip r:embed="rId2">
              <a:extLst>
                <a:ext uri="{96DAC541-7B7A-43D3-8B79-37D633B846F1}">
                  <asvg:svgBlip xmlns:asvg="http://schemas.microsoft.com/office/drawing/2016/SVG/main" r:embed="rId3"/>
                </a:ext>
              </a:extLst>
            </a:blip>
            <a:stretch>
              <a:fillRect t="-773294" b="-773294"/>
            </a:stretch>
          </a:blipFill>
        </p:spPr>
      </p:sp>
      <p:grpSp>
        <p:nvGrpSpPr>
          <p:cNvPr id="3" name="Group 3"/>
          <p:cNvGrpSpPr/>
          <p:nvPr/>
        </p:nvGrpSpPr>
        <p:grpSpPr>
          <a:xfrm>
            <a:off x="16612530" y="0"/>
            <a:ext cx="1675470" cy="1675470"/>
            <a:chOff x="0" y="0"/>
            <a:chExt cx="2233960" cy="2233960"/>
          </a:xfrm>
        </p:grpSpPr>
        <p:sp>
          <p:nvSpPr>
            <p:cNvPr id="4" name="Freeform 4"/>
            <p:cNvSpPr/>
            <p:nvPr/>
          </p:nvSpPr>
          <p:spPr>
            <a:xfrm>
              <a:off x="0" y="0"/>
              <a:ext cx="2233930" cy="2233930"/>
            </a:xfrm>
            <a:custGeom>
              <a:avLst/>
              <a:gdLst/>
              <a:ahLst/>
              <a:cxnLst/>
              <a:rect l="l" t="t" r="r" b="b"/>
              <a:pathLst>
                <a:path w="2233930" h="2233930">
                  <a:moveTo>
                    <a:pt x="0" y="0"/>
                  </a:moveTo>
                  <a:lnTo>
                    <a:pt x="2233930" y="0"/>
                  </a:lnTo>
                  <a:lnTo>
                    <a:pt x="2233930" y="2233930"/>
                  </a:lnTo>
                  <a:lnTo>
                    <a:pt x="0" y="2233930"/>
                  </a:lnTo>
                  <a:lnTo>
                    <a:pt x="0" y="0"/>
                  </a:lnTo>
                  <a:close/>
                </a:path>
              </a:pathLst>
            </a:custGeom>
            <a:blipFill>
              <a:blip r:embed="rId4"/>
              <a:stretch>
                <a:fillRect r="-1" b="-1"/>
              </a:stretch>
            </a:blipFill>
          </p:spPr>
        </p:sp>
      </p:grpSp>
      <p:sp>
        <p:nvSpPr>
          <p:cNvPr id="5" name="Freeform 5"/>
          <p:cNvSpPr/>
          <p:nvPr/>
        </p:nvSpPr>
        <p:spPr>
          <a:xfrm>
            <a:off x="-17520" y="0"/>
            <a:ext cx="6810852" cy="10287000"/>
          </a:xfrm>
          <a:custGeom>
            <a:avLst/>
            <a:gdLst/>
            <a:ahLst/>
            <a:cxnLst/>
            <a:rect l="l" t="t" r="r" b="b"/>
            <a:pathLst>
              <a:path w="10126766" h="10126766">
                <a:moveTo>
                  <a:pt x="0" y="0"/>
                </a:moveTo>
                <a:lnTo>
                  <a:pt x="10126766" y="0"/>
                </a:lnTo>
                <a:lnTo>
                  <a:pt x="10126766" y="10126766"/>
                </a:lnTo>
                <a:lnTo>
                  <a:pt x="0" y="10126766"/>
                </a:lnTo>
                <a:lnTo>
                  <a:pt x="0" y="0"/>
                </a:lnTo>
                <a:close/>
              </a:path>
            </a:pathLst>
          </a:custGeom>
          <a:solidFill>
            <a:srgbClr val="E8C7C8"/>
          </a:solidFill>
        </p:spPr>
        <p:style>
          <a:lnRef idx="2">
            <a:schemeClr val="dk1"/>
          </a:lnRef>
          <a:fillRef idx="1">
            <a:schemeClr val="lt1"/>
          </a:fillRef>
          <a:effectRef idx="0">
            <a:schemeClr val="dk1"/>
          </a:effectRef>
          <a:fontRef idx="minor">
            <a:schemeClr val="dk1"/>
          </a:fontRef>
        </p:style>
      </p:sp>
      <p:grpSp>
        <p:nvGrpSpPr>
          <p:cNvPr id="6" name="Group 6"/>
          <p:cNvGrpSpPr/>
          <p:nvPr/>
        </p:nvGrpSpPr>
        <p:grpSpPr>
          <a:xfrm>
            <a:off x="15240" y="-563306"/>
            <a:ext cx="6810849" cy="11413612"/>
            <a:chOff x="0" y="0"/>
            <a:chExt cx="9081132" cy="13337287"/>
          </a:xfrm>
        </p:grpSpPr>
        <p:sp>
          <p:nvSpPr>
            <p:cNvPr id="7" name="Freeform 7"/>
            <p:cNvSpPr/>
            <p:nvPr/>
          </p:nvSpPr>
          <p:spPr>
            <a:xfrm>
              <a:off x="0" y="0"/>
              <a:ext cx="9081135" cy="13337287"/>
            </a:xfrm>
            <a:custGeom>
              <a:avLst/>
              <a:gdLst/>
              <a:ahLst/>
              <a:cxnLst/>
              <a:rect l="l" t="t" r="r" b="b"/>
              <a:pathLst>
                <a:path w="9081135" h="13337287">
                  <a:moveTo>
                    <a:pt x="0" y="0"/>
                  </a:moveTo>
                  <a:lnTo>
                    <a:pt x="9081135" y="0"/>
                  </a:lnTo>
                  <a:lnTo>
                    <a:pt x="9081135" y="13337287"/>
                  </a:lnTo>
                  <a:lnTo>
                    <a:pt x="0" y="13337287"/>
                  </a:lnTo>
                  <a:lnTo>
                    <a:pt x="0" y="0"/>
                  </a:lnTo>
                  <a:close/>
                </a:path>
              </a:pathLst>
            </a:custGeom>
            <a:blipFill>
              <a:blip r:embed="rId5"/>
              <a:stretch>
                <a:fillRect l="-23434" r="-23434"/>
              </a:stretch>
            </a:blipFill>
          </p:spPr>
        </p:sp>
      </p:grpSp>
      <p:sp>
        <p:nvSpPr>
          <p:cNvPr id="8" name="TextBox 8"/>
          <p:cNvSpPr txBox="1"/>
          <p:nvPr/>
        </p:nvSpPr>
        <p:spPr>
          <a:xfrm>
            <a:off x="7944166" y="7853583"/>
            <a:ext cx="8353863" cy="457200"/>
          </a:xfrm>
          <a:prstGeom prst="rect">
            <a:avLst/>
          </a:prstGeom>
        </p:spPr>
        <p:txBody>
          <a:bodyPr lIns="0" tIns="0" rIns="0" bIns="0" rtlCol="0" anchor="t">
            <a:spAutoFit/>
          </a:bodyPr>
          <a:lstStyle/>
          <a:p>
            <a:pPr algn="l">
              <a:lnSpc>
                <a:spcPts val="3600"/>
              </a:lnSpc>
            </a:pPr>
            <a:r>
              <a:rPr lang="en-US" sz="3000" u="sng" dirty="0">
                <a:solidFill>
                  <a:srgbClr val="800020"/>
                </a:solidFill>
                <a:latin typeface="Clear Sans"/>
                <a:ea typeface="Clear Sans"/>
                <a:cs typeface="Clear Sans"/>
                <a:sym typeface="Clear Sans"/>
              </a:rPr>
              <a:t> Data Analytics Project For </a:t>
            </a:r>
            <a:r>
              <a:rPr lang="en-US" sz="3000" u="sng" dirty="0" err="1">
                <a:solidFill>
                  <a:srgbClr val="800020"/>
                </a:solidFill>
                <a:latin typeface="Clear Sans"/>
                <a:ea typeface="Clear Sans"/>
                <a:cs typeface="Clear Sans"/>
                <a:sym typeface="Clear Sans"/>
              </a:rPr>
              <a:t>Atliq</a:t>
            </a:r>
            <a:r>
              <a:rPr lang="en-US" sz="3000" u="sng" dirty="0">
                <a:solidFill>
                  <a:srgbClr val="800020"/>
                </a:solidFill>
                <a:latin typeface="Clear Sans"/>
                <a:ea typeface="Clear Sans"/>
                <a:cs typeface="Clear Sans"/>
                <a:sym typeface="Clear Sans"/>
              </a:rPr>
              <a:t> Hardware</a:t>
            </a:r>
          </a:p>
        </p:txBody>
      </p:sp>
      <p:sp>
        <p:nvSpPr>
          <p:cNvPr id="9" name="TextBox 9"/>
          <p:cNvSpPr txBox="1"/>
          <p:nvPr/>
        </p:nvSpPr>
        <p:spPr>
          <a:xfrm>
            <a:off x="7944166" y="2990951"/>
            <a:ext cx="9315134" cy="2910840"/>
          </a:xfrm>
          <a:prstGeom prst="rect">
            <a:avLst/>
          </a:prstGeom>
        </p:spPr>
        <p:txBody>
          <a:bodyPr lIns="0" tIns="0" rIns="0" bIns="0" rtlCol="0" anchor="t">
            <a:spAutoFit/>
          </a:bodyPr>
          <a:lstStyle/>
          <a:p>
            <a:pPr algn="l">
              <a:lnSpc>
                <a:spcPts val="11880"/>
              </a:lnSpc>
            </a:pPr>
            <a:r>
              <a:rPr lang="en-US" sz="11000" spc="-110">
                <a:solidFill>
                  <a:srgbClr val="800020"/>
                </a:solidFill>
                <a:latin typeface="Hammersmith One"/>
                <a:ea typeface="Hammersmith One"/>
                <a:cs typeface="Hammersmith One"/>
                <a:sym typeface="Hammersmith One"/>
              </a:rPr>
              <a:t>Business Insight 360</a:t>
            </a:r>
          </a:p>
        </p:txBody>
      </p:sp>
      <p:sp>
        <p:nvSpPr>
          <p:cNvPr id="10" name="TextBox 10"/>
          <p:cNvSpPr txBox="1"/>
          <p:nvPr/>
        </p:nvSpPr>
        <p:spPr>
          <a:xfrm>
            <a:off x="533400" y="9200852"/>
            <a:ext cx="5455920" cy="1048048"/>
          </a:xfrm>
          <a:prstGeom prst="rect">
            <a:avLst/>
          </a:prstGeom>
        </p:spPr>
        <p:txBody>
          <a:bodyPr lIns="0" tIns="0" rIns="0" bIns="0" rtlCol="0" anchor="t">
            <a:spAutoFit/>
          </a:bodyPr>
          <a:lstStyle/>
          <a:p>
            <a:pPr algn="ctr">
              <a:lnSpc>
                <a:spcPts val="7200"/>
              </a:lnSpc>
            </a:pPr>
            <a:r>
              <a:rPr lang="en-US" sz="6000" b="1" dirty="0" err="1">
                <a:solidFill>
                  <a:srgbClr val="800020"/>
                </a:solidFill>
                <a:latin typeface="Calibri (MS) Bold"/>
                <a:ea typeface="Calibri (MS) Bold"/>
                <a:cs typeface="Calibri (MS) Bold"/>
                <a:sym typeface="Calibri (MS) Bold"/>
              </a:rPr>
              <a:t>Atliq</a:t>
            </a:r>
            <a:r>
              <a:rPr lang="en-US" sz="6000" b="1" dirty="0">
                <a:solidFill>
                  <a:srgbClr val="800020"/>
                </a:solidFill>
                <a:latin typeface="Calibri (MS) Bold"/>
                <a:ea typeface="Calibri (MS) Bold"/>
                <a:cs typeface="Calibri (MS) Bold"/>
                <a:sym typeface="Calibri (MS) Bold"/>
              </a:rPr>
              <a:t> Hardware</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0" y="-38100"/>
            <a:ext cx="8086703" cy="10287000"/>
            <a:chOff x="0" y="0"/>
            <a:chExt cx="10782271" cy="13716000"/>
          </a:xfrm>
        </p:grpSpPr>
        <p:sp>
          <p:nvSpPr>
            <p:cNvPr id="3" name="Freeform 3"/>
            <p:cNvSpPr/>
            <p:nvPr/>
          </p:nvSpPr>
          <p:spPr>
            <a:xfrm>
              <a:off x="0" y="0"/>
              <a:ext cx="10782300" cy="13716000"/>
            </a:xfrm>
            <a:custGeom>
              <a:avLst/>
              <a:gdLst/>
              <a:ahLst/>
              <a:cxnLst/>
              <a:rect l="l" t="t" r="r" b="b"/>
              <a:pathLst>
                <a:path w="10782300" h="13716000">
                  <a:moveTo>
                    <a:pt x="0" y="0"/>
                  </a:moveTo>
                  <a:lnTo>
                    <a:pt x="10782300" y="0"/>
                  </a:lnTo>
                  <a:lnTo>
                    <a:pt x="10782300" y="13716000"/>
                  </a:lnTo>
                  <a:lnTo>
                    <a:pt x="0" y="13716000"/>
                  </a:lnTo>
                  <a:close/>
                </a:path>
              </a:pathLst>
            </a:custGeom>
            <a:solidFill>
              <a:srgbClr val="E8C7C8"/>
            </a:solidFill>
            <a:ln w="12700">
              <a:solidFill>
                <a:srgbClr val="000000"/>
              </a:solidFill>
            </a:ln>
          </p:spPr>
        </p:sp>
      </p:grpSp>
      <p:sp>
        <p:nvSpPr>
          <p:cNvPr id="4" name="Freeform 4"/>
          <p:cNvSpPr/>
          <p:nvPr/>
        </p:nvSpPr>
        <p:spPr>
          <a:xfrm>
            <a:off x="10714408" y="3771900"/>
            <a:ext cx="7192592" cy="306559"/>
          </a:xfrm>
          <a:custGeom>
            <a:avLst/>
            <a:gdLst/>
            <a:ahLst/>
            <a:cxnLst/>
            <a:rect l="l" t="t" r="r" b="b"/>
            <a:pathLst>
              <a:path w="7192592" h="306559">
                <a:moveTo>
                  <a:pt x="0" y="0"/>
                </a:moveTo>
                <a:lnTo>
                  <a:pt x="7192592" y="0"/>
                </a:lnTo>
                <a:lnTo>
                  <a:pt x="7192592" y="306559"/>
                </a:lnTo>
                <a:lnTo>
                  <a:pt x="0" y="306559"/>
                </a:lnTo>
                <a:lnTo>
                  <a:pt x="0" y="0"/>
                </a:lnTo>
                <a:close/>
              </a:path>
            </a:pathLst>
          </a:custGeom>
          <a:blipFill>
            <a:blip r:embed="rId2">
              <a:extLst>
                <a:ext uri="{96DAC541-7B7A-43D3-8B79-37D633B846F1}">
                  <asvg:svgBlip xmlns:asvg="http://schemas.microsoft.com/office/drawing/2016/SVG/main" r:embed="rId3"/>
                </a:ext>
              </a:extLst>
            </a:blip>
            <a:stretch>
              <a:fillRect t="-1123117" b="-1123117"/>
            </a:stretch>
          </a:blipFill>
        </p:spPr>
      </p:sp>
      <p:grpSp>
        <p:nvGrpSpPr>
          <p:cNvPr id="5" name="Group 5"/>
          <p:cNvGrpSpPr/>
          <p:nvPr/>
        </p:nvGrpSpPr>
        <p:grpSpPr>
          <a:xfrm>
            <a:off x="1028700" y="1028700"/>
            <a:ext cx="5750608" cy="8229600"/>
            <a:chOff x="0" y="0"/>
            <a:chExt cx="7667477" cy="10972800"/>
          </a:xfrm>
        </p:grpSpPr>
        <p:sp>
          <p:nvSpPr>
            <p:cNvPr id="6" name="Freeform 6"/>
            <p:cNvSpPr/>
            <p:nvPr/>
          </p:nvSpPr>
          <p:spPr>
            <a:xfrm>
              <a:off x="0" y="0"/>
              <a:ext cx="7667498" cy="10972800"/>
            </a:xfrm>
            <a:custGeom>
              <a:avLst/>
              <a:gdLst/>
              <a:ahLst/>
              <a:cxnLst/>
              <a:rect l="l" t="t" r="r" b="b"/>
              <a:pathLst>
                <a:path w="7667498" h="10972800">
                  <a:moveTo>
                    <a:pt x="0" y="0"/>
                  </a:moveTo>
                  <a:lnTo>
                    <a:pt x="7667498" y="0"/>
                  </a:lnTo>
                  <a:lnTo>
                    <a:pt x="7667498" y="10972800"/>
                  </a:lnTo>
                  <a:lnTo>
                    <a:pt x="0" y="10972800"/>
                  </a:lnTo>
                  <a:lnTo>
                    <a:pt x="0" y="0"/>
                  </a:lnTo>
                  <a:close/>
                </a:path>
              </a:pathLst>
            </a:custGeom>
            <a:blipFill>
              <a:blip r:embed="rId4"/>
              <a:stretch>
                <a:fillRect l="-21554" r="-21553"/>
              </a:stretch>
            </a:blipFill>
          </p:spPr>
        </p:sp>
      </p:grpSp>
      <p:sp>
        <p:nvSpPr>
          <p:cNvPr id="7" name="TextBox 7"/>
          <p:cNvSpPr txBox="1"/>
          <p:nvPr/>
        </p:nvSpPr>
        <p:spPr>
          <a:xfrm>
            <a:off x="10714408" y="4621384"/>
            <a:ext cx="6544892" cy="3536950"/>
          </a:xfrm>
          <a:prstGeom prst="rect">
            <a:avLst/>
          </a:prstGeom>
        </p:spPr>
        <p:txBody>
          <a:bodyPr lIns="0" tIns="0" rIns="0" bIns="0" rtlCol="0" anchor="t">
            <a:spAutoFit/>
          </a:bodyPr>
          <a:lstStyle/>
          <a:p>
            <a:pPr algn="l">
              <a:lnSpc>
                <a:spcPts val="3499"/>
              </a:lnSpc>
            </a:pPr>
            <a:r>
              <a:rPr lang="en-US" sz="2499">
                <a:solidFill>
                  <a:srgbClr val="800020"/>
                </a:solidFill>
                <a:latin typeface="Clear Sans"/>
                <a:ea typeface="Clear Sans"/>
                <a:cs typeface="Clear Sans"/>
                <a:sym typeface="Clear Sans"/>
              </a:rPr>
              <a:t>AtliQ Hardware is a global electronics company offering products like laptops, desktops, accessories, and networking devices. It operates across APAC, Europe, North America, and Latin America. This project focuses on improving business insights using Power BI to support smarter, data-driven decisions.</a:t>
            </a:r>
          </a:p>
        </p:txBody>
      </p:sp>
      <p:sp>
        <p:nvSpPr>
          <p:cNvPr id="8" name="TextBox 8"/>
          <p:cNvSpPr txBox="1"/>
          <p:nvPr/>
        </p:nvSpPr>
        <p:spPr>
          <a:xfrm>
            <a:off x="10515600" y="2464895"/>
            <a:ext cx="7391400" cy="1072649"/>
          </a:xfrm>
          <a:prstGeom prst="rect">
            <a:avLst/>
          </a:prstGeom>
        </p:spPr>
        <p:txBody>
          <a:bodyPr lIns="0" tIns="0" rIns="0" bIns="0" rtlCol="0" anchor="t">
            <a:spAutoFit/>
          </a:bodyPr>
          <a:lstStyle/>
          <a:p>
            <a:pPr algn="ctr">
              <a:lnSpc>
                <a:spcPts val="7278"/>
              </a:lnSpc>
            </a:pPr>
            <a:r>
              <a:rPr lang="en-US" sz="4000" b="1">
                <a:solidFill>
                  <a:srgbClr val="800020"/>
                </a:solidFill>
                <a:latin typeface="Canva Sans Bold"/>
                <a:ea typeface="Canva Sans Bold"/>
                <a:cs typeface="Canva Sans Bold"/>
                <a:sym typeface="Canva Sans Bold"/>
              </a:rPr>
              <a:t>Introduction About Company</a:t>
            </a:r>
          </a:p>
        </p:txBody>
      </p:sp>
      <p:sp>
        <p:nvSpPr>
          <p:cNvPr id="9" name="TextBox 9"/>
          <p:cNvSpPr txBox="1"/>
          <p:nvPr/>
        </p:nvSpPr>
        <p:spPr>
          <a:xfrm>
            <a:off x="1315391" y="8164532"/>
            <a:ext cx="5455920" cy="1048048"/>
          </a:xfrm>
          <a:prstGeom prst="rect">
            <a:avLst/>
          </a:prstGeom>
        </p:spPr>
        <p:txBody>
          <a:bodyPr lIns="0" tIns="0" rIns="0" bIns="0" rtlCol="0" anchor="t">
            <a:spAutoFit/>
          </a:bodyPr>
          <a:lstStyle/>
          <a:p>
            <a:pPr algn="ctr">
              <a:lnSpc>
                <a:spcPts val="7200"/>
              </a:lnSpc>
            </a:pPr>
            <a:r>
              <a:rPr lang="en-US" sz="6000" b="1">
                <a:solidFill>
                  <a:srgbClr val="800020"/>
                </a:solidFill>
                <a:latin typeface="Calibri (MS) Bold"/>
                <a:ea typeface="Calibri (MS) Bold"/>
                <a:cs typeface="Calibri (MS) Bold"/>
                <a:sym typeface="Calibri (MS) Bold"/>
              </a:rPr>
              <a:t>Atliq Hardware</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8086703" cy="10287000"/>
            <a:chOff x="0" y="0"/>
            <a:chExt cx="10782271" cy="13716000"/>
          </a:xfrm>
        </p:grpSpPr>
        <p:sp>
          <p:nvSpPr>
            <p:cNvPr id="3" name="Freeform 3"/>
            <p:cNvSpPr/>
            <p:nvPr/>
          </p:nvSpPr>
          <p:spPr>
            <a:xfrm>
              <a:off x="0" y="0"/>
              <a:ext cx="10782300" cy="13716000"/>
            </a:xfrm>
            <a:custGeom>
              <a:avLst/>
              <a:gdLst/>
              <a:ahLst/>
              <a:cxnLst/>
              <a:rect l="l" t="t" r="r" b="b"/>
              <a:pathLst>
                <a:path w="10782300" h="13716000">
                  <a:moveTo>
                    <a:pt x="0" y="0"/>
                  </a:moveTo>
                  <a:lnTo>
                    <a:pt x="10782300" y="0"/>
                  </a:lnTo>
                  <a:lnTo>
                    <a:pt x="10782300" y="13716000"/>
                  </a:lnTo>
                  <a:lnTo>
                    <a:pt x="0" y="13716000"/>
                  </a:lnTo>
                  <a:close/>
                </a:path>
              </a:pathLst>
            </a:custGeom>
            <a:solidFill>
              <a:srgbClr val="E8C7C8"/>
            </a:solidFill>
            <a:ln w="12700">
              <a:solidFill>
                <a:srgbClr val="000000"/>
              </a:solidFill>
            </a:ln>
          </p:spPr>
        </p:sp>
      </p:grpSp>
      <p:sp>
        <p:nvSpPr>
          <p:cNvPr id="4" name="Freeform 4"/>
          <p:cNvSpPr/>
          <p:nvPr/>
        </p:nvSpPr>
        <p:spPr>
          <a:xfrm rot="5400000">
            <a:off x="9750367" y="1494393"/>
            <a:ext cx="362119" cy="362427"/>
          </a:xfrm>
          <a:custGeom>
            <a:avLst/>
            <a:gdLst/>
            <a:ahLst/>
            <a:cxnLst/>
            <a:rect l="l" t="t" r="r" b="b"/>
            <a:pathLst>
              <a:path w="362119" h="362427">
                <a:moveTo>
                  <a:pt x="0" y="0"/>
                </a:moveTo>
                <a:lnTo>
                  <a:pt x="362119" y="0"/>
                </a:lnTo>
                <a:lnTo>
                  <a:pt x="362119" y="362427"/>
                </a:lnTo>
                <a:lnTo>
                  <a:pt x="0" y="362427"/>
                </a:lnTo>
                <a:lnTo>
                  <a:pt x="0" y="0"/>
                </a:lnTo>
                <a:close/>
              </a:path>
            </a:pathLst>
          </a:custGeom>
          <a:blipFill>
            <a:blip r:embed="rId2">
              <a:extLst>
                <a:ext uri="{96DAC541-7B7A-43D3-8B79-37D633B846F1}">
                  <asvg:svgBlip xmlns:asvg="http://schemas.microsoft.com/office/drawing/2016/SVG/main" r:embed="rId3"/>
                </a:ext>
              </a:extLst>
            </a:blip>
            <a:stretch>
              <a:fillRect l="-42" r="-42"/>
            </a:stretch>
          </a:blipFill>
        </p:spPr>
      </p:sp>
      <p:sp>
        <p:nvSpPr>
          <p:cNvPr id="5" name="Freeform 5"/>
          <p:cNvSpPr/>
          <p:nvPr/>
        </p:nvSpPr>
        <p:spPr>
          <a:xfrm rot="5400000">
            <a:off x="9750367" y="4321170"/>
            <a:ext cx="362119" cy="362427"/>
          </a:xfrm>
          <a:custGeom>
            <a:avLst/>
            <a:gdLst/>
            <a:ahLst/>
            <a:cxnLst/>
            <a:rect l="l" t="t" r="r" b="b"/>
            <a:pathLst>
              <a:path w="362119" h="362427">
                <a:moveTo>
                  <a:pt x="0" y="0"/>
                </a:moveTo>
                <a:lnTo>
                  <a:pt x="362119" y="0"/>
                </a:lnTo>
                <a:lnTo>
                  <a:pt x="362119" y="362427"/>
                </a:lnTo>
                <a:lnTo>
                  <a:pt x="0" y="362427"/>
                </a:lnTo>
                <a:lnTo>
                  <a:pt x="0" y="0"/>
                </a:lnTo>
                <a:close/>
              </a:path>
            </a:pathLst>
          </a:custGeom>
          <a:blipFill>
            <a:blip r:embed="rId2">
              <a:extLst>
                <a:ext uri="{96DAC541-7B7A-43D3-8B79-37D633B846F1}">
                  <asvg:svgBlip xmlns:asvg="http://schemas.microsoft.com/office/drawing/2016/SVG/main" r:embed="rId3"/>
                </a:ext>
              </a:extLst>
            </a:blip>
            <a:stretch>
              <a:fillRect l="-42" r="-42"/>
            </a:stretch>
          </a:blipFill>
        </p:spPr>
      </p:sp>
      <p:sp>
        <p:nvSpPr>
          <p:cNvPr id="6" name="Freeform 6"/>
          <p:cNvSpPr/>
          <p:nvPr/>
        </p:nvSpPr>
        <p:spPr>
          <a:xfrm rot="5400000">
            <a:off x="9750367" y="7514215"/>
            <a:ext cx="362119" cy="362427"/>
          </a:xfrm>
          <a:custGeom>
            <a:avLst/>
            <a:gdLst/>
            <a:ahLst/>
            <a:cxnLst/>
            <a:rect l="l" t="t" r="r" b="b"/>
            <a:pathLst>
              <a:path w="362119" h="362427">
                <a:moveTo>
                  <a:pt x="0" y="0"/>
                </a:moveTo>
                <a:lnTo>
                  <a:pt x="362119" y="0"/>
                </a:lnTo>
                <a:lnTo>
                  <a:pt x="362119" y="362427"/>
                </a:lnTo>
                <a:lnTo>
                  <a:pt x="0" y="362427"/>
                </a:lnTo>
                <a:lnTo>
                  <a:pt x="0" y="0"/>
                </a:lnTo>
                <a:close/>
              </a:path>
            </a:pathLst>
          </a:custGeom>
          <a:blipFill>
            <a:blip r:embed="rId2">
              <a:extLst>
                <a:ext uri="{96DAC541-7B7A-43D3-8B79-37D633B846F1}">
                  <asvg:svgBlip xmlns:asvg="http://schemas.microsoft.com/office/drawing/2016/SVG/main" r:embed="rId3"/>
                </a:ext>
              </a:extLst>
            </a:blip>
            <a:stretch>
              <a:fillRect l="-42" r="-42"/>
            </a:stretch>
          </a:blipFill>
        </p:spPr>
      </p:sp>
      <p:grpSp>
        <p:nvGrpSpPr>
          <p:cNvPr id="7" name="Group 7"/>
          <p:cNvGrpSpPr/>
          <p:nvPr/>
        </p:nvGrpSpPr>
        <p:grpSpPr>
          <a:xfrm>
            <a:off x="9318" y="3216097"/>
            <a:ext cx="8077384" cy="7075918"/>
            <a:chOff x="0" y="0"/>
            <a:chExt cx="10769845" cy="9434557"/>
          </a:xfrm>
        </p:grpSpPr>
        <p:sp>
          <p:nvSpPr>
            <p:cNvPr id="8" name="Freeform 8"/>
            <p:cNvSpPr/>
            <p:nvPr/>
          </p:nvSpPr>
          <p:spPr>
            <a:xfrm>
              <a:off x="0" y="0"/>
              <a:ext cx="10769854" cy="9434576"/>
            </a:xfrm>
            <a:custGeom>
              <a:avLst/>
              <a:gdLst/>
              <a:ahLst/>
              <a:cxnLst/>
              <a:rect l="l" t="t" r="r" b="b"/>
              <a:pathLst>
                <a:path w="10769854" h="9434576">
                  <a:moveTo>
                    <a:pt x="0" y="0"/>
                  </a:moveTo>
                  <a:lnTo>
                    <a:pt x="10769854" y="0"/>
                  </a:lnTo>
                  <a:lnTo>
                    <a:pt x="10769854" y="9434576"/>
                  </a:lnTo>
                  <a:lnTo>
                    <a:pt x="0" y="9434576"/>
                  </a:lnTo>
                  <a:lnTo>
                    <a:pt x="0" y="0"/>
                  </a:lnTo>
                  <a:close/>
                </a:path>
              </a:pathLst>
            </a:custGeom>
            <a:blipFill>
              <a:blip r:embed="rId4"/>
              <a:stretch>
                <a:fillRect t="-7076" b="-7076"/>
              </a:stretch>
            </a:blipFill>
          </p:spPr>
        </p:sp>
      </p:grpSp>
      <p:sp>
        <p:nvSpPr>
          <p:cNvPr id="9" name="TextBox 9"/>
          <p:cNvSpPr txBox="1"/>
          <p:nvPr/>
        </p:nvSpPr>
        <p:spPr>
          <a:xfrm>
            <a:off x="1028700" y="1482022"/>
            <a:ext cx="7058003" cy="844537"/>
          </a:xfrm>
          <a:prstGeom prst="rect">
            <a:avLst/>
          </a:prstGeom>
        </p:spPr>
        <p:txBody>
          <a:bodyPr lIns="0" tIns="0" rIns="0" bIns="0" rtlCol="0" anchor="t">
            <a:spAutoFit/>
          </a:bodyPr>
          <a:lstStyle/>
          <a:p>
            <a:pPr algn="l">
              <a:lnSpc>
                <a:spcPts val="6816"/>
              </a:lnSpc>
            </a:pPr>
            <a:r>
              <a:rPr lang="en-US" sz="6195">
                <a:solidFill>
                  <a:srgbClr val="800020"/>
                </a:solidFill>
                <a:latin typeface="Hammersmith One"/>
                <a:ea typeface="Hammersmith One"/>
                <a:cs typeface="Hammersmith One"/>
                <a:sym typeface="Hammersmith One"/>
              </a:rPr>
              <a:t>Business Problem</a:t>
            </a:r>
          </a:p>
        </p:txBody>
      </p:sp>
      <p:sp>
        <p:nvSpPr>
          <p:cNvPr id="10" name="TextBox 10"/>
          <p:cNvSpPr txBox="1"/>
          <p:nvPr/>
        </p:nvSpPr>
        <p:spPr>
          <a:xfrm>
            <a:off x="10524602" y="1236768"/>
            <a:ext cx="6628693" cy="507206"/>
          </a:xfrm>
          <a:prstGeom prst="rect">
            <a:avLst/>
          </a:prstGeom>
        </p:spPr>
        <p:txBody>
          <a:bodyPr lIns="0" tIns="0" rIns="0" bIns="0" rtlCol="0" anchor="t">
            <a:spAutoFit/>
          </a:bodyPr>
          <a:lstStyle/>
          <a:p>
            <a:pPr algn="l">
              <a:lnSpc>
                <a:spcPts val="3900"/>
              </a:lnSpc>
            </a:pPr>
            <a:r>
              <a:rPr lang="en-US" sz="3000" b="1">
                <a:solidFill>
                  <a:srgbClr val="800020"/>
                </a:solidFill>
                <a:latin typeface="Clear Sans Bold"/>
                <a:ea typeface="Clear Sans Bold"/>
                <a:cs typeface="Clear Sans Bold"/>
                <a:sym typeface="Clear Sans Bold"/>
              </a:rPr>
              <a:t>Data Dependency on Excel</a:t>
            </a:r>
          </a:p>
        </p:txBody>
      </p:sp>
      <p:sp>
        <p:nvSpPr>
          <p:cNvPr id="11" name="TextBox 11"/>
          <p:cNvSpPr txBox="1"/>
          <p:nvPr/>
        </p:nvSpPr>
        <p:spPr>
          <a:xfrm>
            <a:off x="10524602" y="1823788"/>
            <a:ext cx="6628693" cy="1089818"/>
          </a:xfrm>
          <a:prstGeom prst="rect">
            <a:avLst/>
          </a:prstGeom>
        </p:spPr>
        <p:txBody>
          <a:bodyPr lIns="0" tIns="0" rIns="0" bIns="0" rtlCol="0" anchor="t">
            <a:spAutoFit/>
          </a:bodyPr>
          <a:lstStyle/>
          <a:p>
            <a:pPr algn="l">
              <a:lnSpc>
                <a:spcPts val="2800"/>
              </a:lnSpc>
            </a:pPr>
            <a:r>
              <a:rPr lang="en-US" sz="2000">
                <a:solidFill>
                  <a:srgbClr val="800020"/>
                </a:solidFill>
                <a:latin typeface="Clear Sans"/>
                <a:ea typeface="Clear Sans"/>
                <a:cs typeface="Clear Sans"/>
                <a:sym typeface="Clear Sans"/>
              </a:rPr>
              <a:t>AtliQ relied heavily on Excel files for analytics, making it difficult to manage and analyze large volumes of data across multiple regions.</a:t>
            </a:r>
          </a:p>
        </p:txBody>
      </p:sp>
      <p:sp>
        <p:nvSpPr>
          <p:cNvPr id="12" name="TextBox 12"/>
          <p:cNvSpPr txBox="1"/>
          <p:nvPr/>
        </p:nvSpPr>
        <p:spPr>
          <a:xfrm>
            <a:off x="10524602" y="4280078"/>
            <a:ext cx="6628693" cy="507206"/>
          </a:xfrm>
          <a:prstGeom prst="rect">
            <a:avLst/>
          </a:prstGeom>
        </p:spPr>
        <p:txBody>
          <a:bodyPr lIns="0" tIns="0" rIns="0" bIns="0" rtlCol="0" anchor="t">
            <a:spAutoFit/>
          </a:bodyPr>
          <a:lstStyle/>
          <a:p>
            <a:pPr algn="l">
              <a:lnSpc>
                <a:spcPts val="3900"/>
              </a:lnSpc>
            </a:pPr>
            <a:r>
              <a:rPr lang="en-US" sz="3000" b="1">
                <a:solidFill>
                  <a:srgbClr val="800020"/>
                </a:solidFill>
                <a:latin typeface="Clear Sans Bold"/>
                <a:ea typeface="Clear Sans Bold"/>
                <a:cs typeface="Clear Sans Bold"/>
                <a:sym typeface="Clear Sans Bold"/>
              </a:rPr>
              <a:t>Lack of Actionable Insights</a:t>
            </a:r>
          </a:p>
        </p:txBody>
      </p:sp>
      <p:sp>
        <p:nvSpPr>
          <p:cNvPr id="13" name="TextBox 13"/>
          <p:cNvSpPr txBox="1"/>
          <p:nvPr/>
        </p:nvSpPr>
        <p:spPr>
          <a:xfrm>
            <a:off x="10524602" y="4867098"/>
            <a:ext cx="6628693" cy="737393"/>
          </a:xfrm>
          <a:prstGeom prst="rect">
            <a:avLst/>
          </a:prstGeom>
        </p:spPr>
        <p:txBody>
          <a:bodyPr lIns="0" tIns="0" rIns="0" bIns="0" rtlCol="0" anchor="t">
            <a:spAutoFit/>
          </a:bodyPr>
          <a:lstStyle/>
          <a:p>
            <a:pPr algn="l">
              <a:lnSpc>
                <a:spcPts val="2800"/>
              </a:lnSpc>
            </a:pPr>
            <a:r>
              <a:rPr lang="en-US" sz="2000">
                <a:solidFill>
                  <a:srgbClr val="800020"/>
                </a:solidFill>
                <a:latin typeface="Clear Sans"/>
                <a:ea typeface="Clear Sans"/>
                <a:cs typeface="Clear Sans"/>
                <a:sym typeface="Clear Sans"/>
              </a:rPr>
              <a:t>Excel reports were time-consuming and ineffective in generating real-time insights for decision-making</a:t>
            </a:r>
          </a:p>
        </p:txBody>
      </p:sp>
      <p:sp>
        <p:nvSpPr>
          <p:cNvPr id="14" name="TextBox 14"/>
          <p:cNvSpPr txBox="1"/>
          <p:nvPr/>
        </p:nvSpPr>
        <p:spPr>
          <a:xfrm>
            <a:off x="10524602" y="7147440"/>
            <a:ext cx="6628693" cy="507206"/>
          </a:xfrm>
          <a:prstGeom prst="rect">
            <a:avLst/>
          </a:prstGeom>
        </p:spPr>
        <p:txBody>
          <a:bodyPr lIns="0" tIns="0" rIns="0" bIns="0" rtlCol="0" anchor="t">
            <a:spAutoFit/>
          </a:bodyPr>
          <a:lstStyle/>
          <a:p>
            <a:pPr algn="l">
              <a:lnSpc>
                <a:spcPts val="3900"/>
              </a:lnSpc>
            </a:pPr>
            <a:r>
              <a:rPr lang="en-US" sz="3000" b="1">
                <a:solidFill>
                  <a:srgbClr val="800020"/>
                </a:solidFill>
                <a:latin typeface="Clear Sans Bold"/>
                <a:ea typeface="Clear Sans Bold"/>
                <a:cs typeface="Clear Sans Bold"/>
                <a:sym typeface="Clear Sans Bold"/>
              </a:rPr>
              <a:t>Financial Loss in LATAM Region</a:t>
            </a:r>
          </a:p>
        </p:txBody>
      </p:sp>
      <p:sp>
        <p:nvSpPr>
          <p:cNvPr id="15" name="TextBox 15"/>
          <p:cNvSpPr txBox="1"/>
          <p:nvPr/>
        </p:nvSpPr>
        <p:spPr>
          <a:xfrm>
            <a:off x="10524602" y="7734460"/>
            <a:ext cx="6628693" cy="737393"/>
          </a:xfrm>
          <a:prstGeom prst="rect">
            <a:avLst/>
          </a:prstGeom>
        </p:spPr>
        <p:txBody>
          <a:bodyPr lIns="0" tIns="0" rIns="0" bIns="0" rtlCol="0" anchor="t">
            <a:spAutoFit/>
          </a:bodyPr>
          <a:lstStyle/>
          <a:p>
            <a:pPr algn="l">
              <a:lnSpc>
                <a:spcPts val="2800"/>
              </a:lnSpc>
            </a:pPr>
            <a:r>
              <a:rPr lang="en-US" sz="2000">
                <a:solidFill>
                  <a:srgbClr val="800020"/>
                </a:solidFill>
                <a:latin typeface="Clear Sans"/>
                <a:ea typeface="Clear Sans"/>
                <a:cs typeface="Clear Sans"/>
                <a:sym typeface="Clear Sans"/>
              </a:rPr>
              <a:t>Due to poor data visibility and delayed analysis, the company faced major losses in the Latin American market</a:t>
            </a:r>
          </a:p>
        </p:txBody>
      </p:sp>
      <p:sp>
        <p:nvSpPr>
          <p:cNvPr id="16" name="TextBox 16"/>
          <p:cNvSpPr txBox="1"/>
          <p:nvPr/>
        </p:nvSpPr>
        <p:spPr>
          <a:xfrm>
            <a:off x="1315391" y="9134475"/>
            <a:ext cx="5455920" cy="1048048"/>
          </a:xfrm>
          <a:prstGeom prst="rect">
            <a:avLst/>
          </a:prstGeom>
        </p:spPr>
        <p:txBody>
          <a:bodyPr lIns="0" tIns="0" rIns="0" bIns="0" rtlCol="0" anchor="t">
            <a:spAutoFit/>
          </a:bodyPr>
          <a:lstStyle/>
          <a:p>
            <a:pPr algn="ctr">
              <a:lnSpc>
                <a:spcPts val="7200"/>
              </a:lnSpc>
            </a:pPr>
            <a:r>
              <a:rPr lang="en-US" sz="6000" b="1">
                <a:solidFill>
                  <a:srgbClr val="800020"/>
                </a:solidFill>
                <a:latin typeface="Calibri (MS) Bold"/>
                <a:ea typeface="Calibri (MS) Bold"/>
                <a:cs typeface="Calibri (MS) Bold"/>
                <a:sym typeface="Calibri (MS) Bold"/>
              </a:rPr>
              <a:t>Atliq Hardware</a:t>
            </a:r>
          </a:p>
        </p:txBody>
      </p:sp>
      <p:grpSp>
        <p:nvGrpSpPr>
          <p:cNvPr id="17" name="Group 17"/>
          <p:cNvGrpSpPr/>
          <p:nvPr/>
        </p:nvGrpSpPr>
        <p:grpSpPr>
          <a:xfrm>
            <a:off x="1016001" y="2276733"/>
            <a:ext cx="6464300" cy="492447"/>
            <a:chOff x="0" y="0"/>
            <a:chExt cx="8619067" cy="656596"/>
          </a:xfrm>
        </p:grpSpPr>
        <p:sp>
          <p:nvSpPr>
            <p:cNvPr id="18" name="Freeform 18"/>
            <p:cNvSpPr/>
            <p:nvPr/>
          </p:nvSpPr>
          <p:spPr>
            <a:xfrm>
              <a:off x="16891" y="16891"/>
              <a:ext cx="8585200" cy="622808"/>
            </a:xfrm>
            <a:custGeom>
              <a:avLst/>
              <a:gdLst/>
              <a:ahLst/>
              <a:cxnLst/>
              <a:rect l="l" t="t" r="r" b="b"/>
              <a:pathLst>
                <a:path w="8585200" h="622808">
                  <a:moveTo>
                    <a:pt x="0" y="0"/>
                  </a:moveTo>
                  <a:lnTo>
                    <a:pt x="8585200" y="0"/>
                  </a:lnTo>
                  <a:lnTo>
                    <a:pt x="8585200" y="622808"/>
                  </a:lnTo>
                  <a:lnTo>
                    <a:pt x="0" y="622808"/>
                  </a:lnTo>
                  <a:close/>
                </a:path>
              </a:pathLst>
            </a:custGeom>
            <a:solidFill>
              <a:srgbClr val="800020"/>
            </a:solidFill>
            <a:ln w="12700">
              <a:solidFill>
                <a:srgbClr val="000000"/>
              </a:solidFill>
            </a:ln>
          </p:spPr>
        </p:sp>
        <p:sp>
          <p:nvSpPr>
            <p:cNvPr id="19" name="Freeform 19"/>
            <p:cNvSpPr/>
            <p:nvPr/>
          </p:nvSpPr>
          <p:spPr>
            <a:xfrm>
              <a:off x="0" y="0"/>
              <a:ext cx="8618982" cy="656590"/>
            </a:xfrm>
            <a:custGeom>
              <a:avLst/>
              <a:gdLst/>
              <a:ahLst/>
              <a:cxnLst/>
              <a:rect l="l" t="t" r="r" b="b"/>
              <a:pathLst>
                <a:path w="8618982" h="656590">
                  <a:moveTo>
                    <a:pt x="16891" y="0"/>
                  </a:moveTo>
                  <a:lnTo>
                    <a:pt x="8602091" y="0"/>
                  </a:lnTo>
                  <a:cubicBezTo>
                    <a:pt x="8611489" y="0"/>
                    <a:pt x="8618982" y="7620"/>
                    <a:pt x="8618982" y="16891"/>
                  </a:cubicBezTo>
                  <a:lnTo>
                    <a:pt x="8618982" y="639699"/>
                  </a:lnTo>
                  <a:cubicBezTo>
                    <a:pt x="8618982" y="649097"/>
                    <a:pt x="8611362" y="656590"/>
                    <a:pt x="8602091" y="656590"/>
                  </a:cubicBezTo>
                  <a:lnTo>
                    <a:pt x="16891" y="656590"/>
                  </a:lnTo>
                  <a:cubicBezTo>
                    <a:pt x="7620" y="656590"/>
                    <a:pt x="0" y="648970"/>
                    <a:pt x="0" y="639699"/>
                  </a:cubicBezTo>
                  <a:lnTo>
                    <a:pt x="0" y="16891"/>
                  </a:lnTo>
                  <a:cubicBezTo>
                    <a:pt x="0" y="7620"/>
                    <a:pt x="7620" y="0"/>
                    <a:pt x="16891" y="0"/>
                  </a:cubicBezTo>
                  <a:moveTo>
                    <a:pt x="16891" y="33909"/>
                  </a:moveTo>
                  <a:lnTo>
                    <a:pt x="16891" y="16891"/>
                  </a:lnTo>
                  <a:lnTo>
                    <a:pt x="33909" y="16891"/>
                  </a:lnTo>
                  <a:lnTo>
                    <a:pt x="33909" y="639699"/>
                  </a:lnTo>
                  <a:lnTo>
                    <a:pt x="16891" y="639699"/>
                  </a:lnTo>
                  <a:lnTo>
                    <a:pt x="16891" y="622681"/>
                  </a:lnTo>
                  <a:lnTo>
                    <a:pt x="8602091" y="622681"/>
                  </a:lnTo>
                  <a:lnTo>
                    <a:pt x="8602091" y="639572"/>
                  </a:lnTo>
                  <a:lnTo>
                    <a:pt x="8585200" y="639572"/>
                  </a:lnTo>
                  <a:lnTo>
                    <a:pt x="8585200" y="16891"/>
                  </a:lnTo>
                  <a:lnTo>
                    <a:pt x="8602091" y="16891"/>
                  </a:lnTo>
                  <a:lnTo>
                    <a:pt x="8602091" y="33909"/>
                  </a:lnTo>
                  <a:lnTo>
                    <a:pt x="16891" y="33909"/>
                  </a:lnTo>
                  <a:close/>
                </a:path>
              </a:pathLst>
            </a:custGeom>
            <a:solidFill>
              <a:srgbClr val="FFFFFF"/>
            </a:solidFill>
            <a:ln w="12700">
              <a:solidFill>
                <a:srgbClr val="000000"/>
              </a:solidFill>
            </a:ln>
          </p:spPr>
        </p:sp>
      </p:gr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Freeform 2"/>
          <p:cNvSpPr/>
          <p:nvPr/>
        </p:nvSpPr>
        <p:spPr>
          <a:xfrm>
            <a:off x="1028700" y="3725028"/>
            <a:ext cx="5287982" cy="390800"/>
          </a:xfrm>
          <a:custGeom>
            <a:avLst/>
            <a:gdLst/>
            <a:ahLst/>
            <a:cxnLst/>
            <a:rect l="l" t="t" r="r" b="b"/>
            <a:pathLst>
              <a:path w="5287982" h="390800">
                <a:moveTo>
                  <a:pt x="0" y="0"/>
                </a:moveTo>
                <a:lnTo>
                  <a:pt x="5287982" y="0"/>
                </a:lnTo>
                <a:lnTo>
                  <a:pt x="5287982" y="390800"/>
                </a:lnTo>
                <a:lnTo>
                  <a:pt x="0" y="390800"/>
                </a:lnTo>
                <a:lnTo>
                  <a:pt x="0" y="0"/>
                </a:lnTo>
                <a:close/>
              </a:path>
            </a:pathLst>
          </a:custGeom>
          <a:blipFill>
            <a:blip r:embed="rId2">
              <a:extLst>
                <a:ext uri="{96DAC541-7B7A-43D3-8B79-37D633B846F1}">
                  <asvg:svgBlip xmlns:asvg="http://schemas.microsoft.com/office/drawing/2016/SVG/main" r:embed="rId3"/>
                </a:ext>
              </a:extLst>
            </a:blip>
            <a:stretch>
              <a:fillRect t="-626558" b="-626558"/>
            </a:stretch>
          </a:blipFill>
        </p:spPr>
      </p:sp>
      <p:sp>
        <p:nvSpPr>
          <p:cNvPr id="3" name="Freeform 3"/>
          <p:cNvSpPr/>
          <p:nvPr/>
        </p:nvSpPr>
        <p:spPr>
          <a:xfrm rot="5400000">
            <a:off x="12764377" y="4763377"/>
            <a:ext cx="10287000" cy="760245"/>
          </a:xfrm>
          <a:custGeom>
            <a:avLst/>
            <a:gdLst/>
            <a:ahLst/>
            <a:cxnLst/>
            <a:rect l="l" t="t" r="r" b="b"/>
            <a:pathLst>
              <a:path w="10287000" h="760245">
                <a:moveTo>
                  <a:pt x="0" y="0"/>
                </a:moveTo>
                <a:lnTo>
                  <a:pt x="10287000" y="0"/>
                </a:lnTo>
                <a:lnTo>
                  <a:pt x="10287000" y="760245"/>
                </a:lnTo>
                <a:lnTo>
                  <a:pt x="0" y="760245"/>
                </a:lnTo>
                <a:lnTo>
                  <a:pt x="0" y="0"/>
                </a:lnTo>
                <a:close/>
              </a:path>
            </a:pathLst>
          </a:custGeom>
          <a:blipFill>
            <a:blip r:embed="rId2">
              <a:extLst>
                <a:ext uri="{96DAC541-7B7A-43D3-8B79-37D633B846F1}">
                  <asvg:svgBlip xmlns:asvg="http://schemas.microsoft.com/office/drawing/2016/SVG/main" r:embed="rId3"/>
                </a:ext>
              </a:extLst>
            </a:blip>
            <a:stretch>
              <a:fillRect t="-626558" b="-626558"/>
            </a:stretch>
          </a:blipFill>
        </p:spPr>
      </p:sp>
      <p:grpSp>
        <p:nvGrpSpPr>
          <p:cNvPr id="4" name="Group 4"/>
          <p:cNvGrpSpPr/>
          <p:nvPr/>
        </p:nvGrpSpPr>
        <p:grpSpPr>
          <a:xfrm>
            <a:off x="13411926" y="0"/>
            <a:ext cx="4115829" cy="4115829"/>
            <a:chOff x="0" y="0"/>
            <a:chExt cx="5487772" cy="5487772"/>
          </a:xfrm>
        </p:grpSpPr>
        <p:sp>
          <p:nvSpPr>
            <p:cNvPr id="5" name="Freeform 5"/>
            <p:cNvSpPr/>
            <p:nvPr/>
          </p:nvSpPr>
          <p:spPr>
            <a:xfrm>
              <a:off x="0" y="0"/>
              <a:ext cx="5487797" cy="5487797"/>
            </a:xfrm>
            <a:custGeom>
              <a:avLst/>
              <a:gdLst/>
              <a:ahLst/>
              <a:cxnLst/>
              <a:rect l="l" t="t" r="r" b="b"/>
              <a:pathLst>
                <a:path w="5487797" h="5487797">
                  <a:moveTo>
                    <a:pt x="0" y="0"/>
                  </a:moveTo>
                  <a:lnTo>
                    <a:pt x="5487797" y="0"/>
                  </a:lnTo>
                  <a:lnTo>
                    <a:pt x="5487797" y="5487797"/>
                  </a:lnTo>
                  <a:lnTo>
                    <a:pt x="0" y="5487797"/>
                  </a:lnTo>
                  <a:lnTo>
                    <a:pt x="0" y="0"/>
                  </a:lnTo>
                  <a:close/>
                </a:path>
              </a:pathLst>
            </a:custGeom>
            <a:blipFill>
              <a:blip r:embed="rId4"/>
              <a:stretch>
                <a:fillRect/>
              </a:stretch>
            </a:blipFill>
          </p:spPr>
        </p:sp>
      </p:grpSp>
      <p:sp>
        <p:nvSpPr>
          <p:cNvPr id="6" name="TextBox 6"/>
          <p:cNvSpPr txBox="1"/>
          <p:nvPr/>
        </p:nvSpPr>
        <p:spPr>
          <a:xfrm>
            <a:off x="1028700" y="1181100"/>
            <a:ext cx="8115300" cy="2213267"/>
          </a:xfrm>
          <a:prstGeom prst="rect">
            <a:avLst/>
          </a:prstGeom>
        </p:spPr>
        <p:txBody>
          <a:bodyPr lIns="0" tIns="0" rIns="0" bIns="0" rtlCol="0" anchor="t">
            <a:spAutoFit/>
          </a:bodyPr>
          <a:lstStyle/>
          <a:p>
            <a:pPr algn="l">
              <a:lnSpc>
                <a:spcPts val="8954"/>
              </a:lnSpc>
            </a:pPr>
            <a:r>
              <a:rPr lang="en-US" sz="8140">
                <a:solidFill>
                  <a:srgbClr val="800020"/>
                </a:solidFill>
                <a:latin typeface="Hammersmith One"/>
                <a:ea typeface="Hammersmith One"/>
                <a:cs typeface="Hammersmith One"/>
                <a:sym typeface="Hammersmith One"/>
              </a:rPr>
              <a:t>Project Objective </a:t>
            </a:r>
          </a:p>
        </p:txBody>
      </p:sp>
      <p:sp>
        <p:nvSpPr>
          <p:cNvPr id="7" name="TextBox 7"/>
          <p:cNvSpPr txBox="1"/>
          <p:nvPr/>
        </p:nvSpPr>
        <p:spPr>
          <a:xfrm>
            <a:off x="1028700" y="5029200"/>
            <a:ext cx="3147981" cy="1104900"/>
          </a:xfrm>
          <a:prstGeom prst="rect">
            <a:avLst/>
          </a:prstGeom>
        </p:spPr>
        <p:txBody>
          <a:bodyPr lIns="0" tIns="0" rIns="0" bIns="0" rtlCol="0" anchor="t">
            <a:spAutoFit/>
          </a:bodyPr>
          <a:lstStyle/>
          <a:p>
            <a:pPr algn="ctr">
              <a:lnSpc>
                <a:spcPts val="4200"/>
              </a:lnSpc>
            </a:pPr>
            <a:r>
              <a:rPr lang="en-US" sz="3000" b="1">
                <a:solidFill>
                  <a:srgbClr val="800020"/>
                </a:solidFill>
                <a:latin typeface="Canva Sans Bold"/>
                <a:ea typeface="Canva Sans Bold"/>
                <a:cs typeface="Canva Sans Bold"/>
                <a:sym typeface="Canva Sans Bold"/>
              </a:rPr>
              <a:t> Data-Driven Decision Making</a:t>
            </a:r>
          </a:p>
        </p:txBody>
      </p:sp>
      <p:sp>
        <p:nvSpPr>
          <p:cNvPr id="8" name="TextBox 8"/>
          <p:cNvSpPr txBox="1"/>
          <p:nvPr/>
        </p:nvSpPr>
        <p:spPr>
          <a:xfrm>
            <a:off x="13411926" y="5181600"/>
            <a:ext cx="3147981" cy="1104900"/>
          </a:xfrm>
          <a:prstGeom prst="rect">
            <a:avLst/>
          </a:prstGeom>
        </p:spPr>
        <p:txBody>
          <a:bodyPr lIns="0" tIns="0" rIns="0" bIns="0" rtlCol="0" anchor="t">
            <a:spAutoFit/>
          </a:bodyPr>
          <a:lstStyle/>
          <a:p>
            <a:pPr algn="ctr">
              <a:lnSpc>
                <a:spcPts val="4200"/>
              </a:lnSpc>
            </a:pPr>
            <a:r>
              <a:rPr lang="en-US" sz="3000" b="1">
                <a:solidFill>
                  <a:srgbClr val="800020"/>
                </a:solidFill>
                <a:latin typeface="Canva Sans Bold"/>
                <a:ea typeface="Canva Sans Bold"/>
                <a:cs typeface="Canva Sans Bold"/>
                <a:sym typeface="Canva Sans Bold"/>
              </a:rPr>
              <a:t>Unified Business View</a:t>
            </a:r>
          </a:p>
        </p:txBody>
      </p:sp>
      <p:sp>
        <p:nvSpPr>
          <p:cNvPr id="9" name="TextBox 9"/>
          <p:cNvSpPr txBox="1"/>
          <p:nvPr/>
        </p:nvSpPr>
        <p:spPr>
          <a:xfrm>
            <a:off x="8830620" y="5181600"/>
            <a:ext cx="4263195" cy="1104900"/>
          </a:xfrm>
          <a:prstGeom prst="rect">
            <a:avLst/>
          </a:prstGeom>
        </p:spPr>
        <p:txBody>
          <a:bodyPr lIns="0" tIns="0" rIns="0" bIns="0" rtlCol="0" anchor="t">
            <a:spAutoFit/>
          </a:bodyPr>
          <a:lstStyle/>
          <a:p>
            <a:pPr algn="ctr">
              <a:lnSpc>
                <a:spcPts val="4200"/>
              </a:lnSpc>
            </a:pPr>
            <a:r>
              <a:rPr lang="en-US" sz="3000" b="1">
                <a:solidFill>
                  <a:srgbClr val="800020"/>
                </a:solidFill>
                <a:latin typeface="Canva Sans Bold"/>
                <a:ea typeface="Canva Sans Bold"/>
                <a:cs typeface="Canva Sans Bold"/>
                <a:sym typeface="Canva Sans Bold"/>
              </a:rPr>
              <a:t> Regional Performance Visibility</a:t>
            </a:r>
          </a:p>
        </p:txBody>
      </p:sp>
      <p:sp>
        <p:nvSpPr>
          <p:cNvPr id="10" name="TextBox 10"/>
          <p:cNvSpPr txBox="1"/>
          <p:nvPr/>
        </p:nvSpPr>
        <p:spPr>
          <a:xfrm>
            <a:off x="4860115" y="5181600"/>
            <a:ext cx="3147981" cy="1104900"/>
          </a:xfrm>
          <a:prstGeom prst="rect">
            <a:avLst/>
          </a:prstGeom>
        </p:spPr>
        <p:txBody>
          <a:bodyPr lIns="0" tIns="0" rIns="0" bIns="0" rtlCol="0" anchor="t">
            <a:spAutoFit/>
          </a:bodyPr>
          <a:lstStyle/>
          <a:p>
            <a:pPr algn="ctr">
              <a:lnSpc>
                <a:spcPts val="4200"/>
              </a:lnSpc>
            </a:pPr>
            <a:r>
              <a:rPr lang="en-US" sz="3000" b="1">
                <a:solidFill>
                  <a:srgbClr val="800020"/>
                </a:solidFill>
                <a:latin typeface="Canva Sans Bold"/>
                <a:ea typeface="Canva Sans Bold"/>
                <a:cs typeface="Canva Sans Bold"/>
                <a:sym typeface="Canva Sans Bold"/>
              </a:rPr>
              <a:t>Revenue Growth &amp; Efficiency</a:t>
            </a:r>
          </a:p>
        </p:txBody>
      </p:sp>
      <p:sp>
        <p:nvSpPr>
          <p:cNvPr id="11" name="TextBox 11"/>
          <p:cNvSpPr txBox="1"/>
          <p:nvPr/>
        </p:nvSpPr>
        <p:spPr>
          <a:xfrm>
            <a:off x="1028700" y="6372225"/>
            <a:ext cx="3367981" cy="1945656"/>
          </a:xfrm>
          <a:prstGeom prst="rect">
            <a:avLst/>
          </a:prstGeom>
        </p:spPr>
        <p:txBody>
          <a:bodyPr lIns="0" tIns="0" rIns="0" bIns="0" rtlCol="0" anchor="t">
            <a:spAutoFit/>
          </a:bodyPr>
          <a:lstStyle/>
          <a:p>
            <a:pPr algn="l">
              <a:lnSpc>
                <a:spcPts val="3009"/>
              </a:lnSpc>
            </a:pPr>
            <a:r>
              <a:rPr lang="en-US" sz="2149">
                <a:solidFill>
                  <a:srgbClr val="800020"/>
                </a:solidFill>
                <a:latin typeface="Canva Sans"/>
                <a:ea typeface="Canva Sans"/>
                <a:cs typeface="Canva Sans"/>
                <a:sym typeface="Canva Sans"/>
              </a:rPr>
              <a:t>Developed an interactive </a:t>
            </a:r>
            <a:r>
              <a:rPr lang="en-US" sz="2149" b="1">
                <a:solidFill>
                  <a:srgbClr val="800020"/>
                </a:solidFill>
                <a:latin typeface="Canva Sans Bold"/>
                <a:ea typeface="Canva Sans Bold"/>
                <a:cs typeface="Canva Sans Bold"/>
                <a:sym typeface="Canva Sans Bold"/>
              </a:rPr>
              <a:t>Power BI dashboard</a:t>
            </a:r>
            <a:r>
              <a:rPr lang="en-US" sz="2149">
                <a:solidFill>
                  <a:srgbClr val="800020"/>
                </a:solidFill>
                <a:latin typeface="Canva Sans"/>
                <a:ea typeface="Canva Sans"/>
                <a:cs typeface="Canva Sans"/>
                <a:sym typeface="Canva Sans"/>
              </a:rPr>
              <a:t> to help AtliQ Hardware make faster and</a:t>
            </a:r>
            <a:r>
              <a:rPr lang="en-US" sz="2149" b="1">
                <a:solidFill>
                  <a:srgbClr val="800020"/>
                </a:solidFill>
                <a:latin typeface="Canva Sans Bold"/>
                <a:ea typeface="Canva Sans Bold"/>
                <a:cs typeface="Canva Sans Bold"/>
                <a:sym typeface="Canva Sans Bold"/>
              </a:rPr>
              <a:t> smarter</a:t>
            </a:r>
          </a:p>
          <a:p>
            <a:pPr algn="l">
              <a:lnSpc>
                <a:spcPts val="3009"/>
              </a:lnSpc>
            </a:pPr>
            <a:r>
              <a:rPr lang="en-US" sz="2149" b="1">
                <a:solidFill>
                  <a:srgbClr val="800020"/>
                </a:solidFill>
                <a:latin typeface="Canva Sans Bold"/>
                <a:ea typeface="Canva Sans Bold"/>
                <a:cs typeface="Canva Sans Bold"/>
                <a:sym typeface="Canva Sans Bold"/>
              </a:rPr>
              <a:t> business decisions</a:t>
            </a:r>
          </a:p>
        </p:txBody>
      </p:sp>
      <p:sp>
        <p:nvSpPr>
          <p:cNvPr id="12" name="TextBox 12"/>
          <p:cNvSpPr txBox="1"/>
          <p:nvPr/>
        </p:nvSpPr>
        <p:spPr>
          <a:xfrm>
            <a:off x="5086350" y="6372225"/>
            <a:ext cx="3367981" cy="2707656"/>
          </a:xfrm>
          <a:prstGeom prst="rect">
            <a:avLst/>
          </a:prstGeom>
        </p:spPr>
        <p:txBody>
          <a:bodyPr lIns="0" tIns="0" rIns="0" bIns="0" rtlCol="0" anchor="t">
            <a:spAutoFit/>
          </a:bodyPr>
          <a:lstStyle/>
          <a:p>
            <a:pPr algn="l">
              <a:lnSpc>
                <a:spcPts val="3009"/>
              </a:lnSpc>
            </a:pPr>
            <a:r>
              <a:rPr lang="en-US" sz="2149">
                <a:solidFill>
                  <a:srgbClr val="800020"/>
                </a:solidFill>
                <a:latin typeface="Canva Sans"/>
                <a:ea typeface="Canva Sans"/>
                <a:cs typeface="Canva Sans"/>
                <a:sym typeface="Canva Sans"/>
              </a:rPr>
              <a:t>The dashboard enabled analysis of department-wise sales trends, driving a projected </a:t>
            </a:r>
            <a:r>
              <a:rPr lang="en-US" sz="2149" b="1">
                <a:solidFill>
                  <a:srgbClr val="800020"/>
                </a:solidFill>
                <a:latin typeface="Canva Sans Bold"/>
                <a:ea typeface="Canva Sans Bold"/>
                <a:cs typeface="Canva Sans Bold"/>
                <a:sym typeface="Canva Sans Bold"/>
              </a:rPr>
              <a:t>10% revenue increase</a:t>
            </a:r>
            <a:r>
              <a:rPr lang="en-US" sz="2149">
                <a:solidFill>
                  <a:srgbClr val="800020"/>
                </a:solidFill>
                <a:latin typeface="Canva Sans"/>
                <a:ea typeface="Canva Sans"/>
                <a:cs typeface="Canva Sans"/>
                <a:sym typeface="Canva Sans"/>
              </a:rPr>
              <a:t> and</a:t>
            </a:r>
            <a:r>
              <a:rPr lang="en-US" sz="2149" b="1">
                <a:solidFill>
                  <a:srgbClr val="800020"/>
                </a:solidFill>
                <a:latin typeface="Canva Sans Bold"/>
                <a:ea typeface="Canva Sans Bold"/>
                <a:cs typeface="Canva Sans Bold"/>
                <a:sym typeface="Canva Sans Bold"/>
              </a:rPr>
              <a:t> 20% reduction in data-related expenses.</a:t>
            </a:r>
          </a:p>
        </p:txBody>
      </p:sp>
      <p:sp>
        <p:nvSpPr>
          <p:cNvPr id="13" name="TextBox 13"/>
          <p:cNvSpPr txBox="1"/>
          <p:nvPr/>
        </p:nvSpPr>
        <p:spPr>
          <a:xfrm>
            <a:off x="9278227" y="6550644"/>
            <a:ext cx="3367981" cy="2326656"/>
          </a:xfrm>
          <a:prstGeom prst="rect">
            <a:avLst/>
          </a:prstGeom>
        </p:spPr>
        <p:txBody>
          <a:bodyPr lIns="0" tIns="0" rIns="0" bIns="0" rtlCol="0" anchor="t">
            <a:spAutoFit/>
          </a:bodyPr>
          <a:lstStyle/>
          <a:p>
            <a:pPr algn="l">
              <a:lnSpc>
                <a:spcPts val="3009"/>
              </a:lnSpc>
            </a:pPr>
            <a:r>
              <a:rPr lang="en-US" sz="2149">
                <a:solidFill>
                  <a:srgbClr val="800020"/>
                </a:solidFill>
                <a:latin typeface="Canva Sans"/>
                <a:ea typeface="Canva Sans"/>
                <a:cs typeface="Canva Sans"/>
                <a:sym typeface="Canva Sans"/>
              </a:rPr>
              <a:t>Enabled managers and executives to easily track </a:t>
            </a:r>
            <a:r>
              <a:rPr lang="en-US" sz="2149" b="1">
                <a:solidFill>
                  <a:srgbClr val="800020"/>
                </a:solidFill>
                <a:latin typeface="Canva Sans Bold"/>
                <a:ea typeface="Canva Sans Bold"/>
                <a:cs typeface="Canva Sans Bold"/>
                <a:sym typeface="Canva Sans Bold"/>
              </a:rPr>
              <a:t>performance across regions and sub-regions</a:t>
            </a:r>
            <a:r>
              <a:rPr lang="en-US" sz="2149">
                <a:solidFill>
                  <a:srgbClr val="800020"/>
                </a:solidFill>
                <a:latin typeface="Canva Sans"/>
                <a:ea typeface="Canva Sans"/>
                <a:cs typeface="Canva Sans"/>
                <a:sym typeface="Canva Sans"/>
              </a:rPr>
              <a:t>, improving understanding of </a:t>
            </a:r>
            <a:r>
              <a:rPr lang="en-US" sz="2149" b="1">
                <a:solidFill>
                  <a:srgbClr val="800020"/>
                </a:solidFill>
                <a:latin typeface="Canva Sans Bold"/>
                <a:ea typeface="Canva Sans Bold"/>
                <a:cs typeface="Canva Sans Bold"/>
                <a:sym typeface="Canva Sans Bold"/>
              </a:rPr>
              <a:t>customer trends</a:t>
            </a:r>
            <a:r>
              <a:rPr lang="en-US" sz="2149">
                <a:solidFill>
                  <a:srgbClr val="800020"/>
                </a:solidFill>
                <a:latin typeface="Canva Sans"/>
                <a:ea typeface="Canva Sans"/>
                <a:cs typeface="Canva Sans"/>
                <a:sym typeface="Canva Sans"/>
              </a:rPr>
              <a:t>.</a:t>
            </a:r>
          </a:p>
        </p:txBody>
      </p:sp>
      <p:sp>
        <p:nvSpPr>
          <p:cNvPr id="14" name="TextBox 14"/>
          <p:cNvSpPr txBox="1"/>
          <p:nvPr/>
        </p:nvSpPr>
        <p:spPr>
          <a:xfrm>
            <a:off x="13301926" y="6550644"/>
            <a:ext cx="3367981" cy="1945656"/>
          </a:xfrm>
          <a:prstGeom prst="rect">
            <a:avLst/>
          </a:prstGeom>
        </p:spPr>
        <p:txBody>
          <a:bodyPr lIns="0" tIns="0" rIns="0" bIns="0" rtlCol="0" anchor="t">
            <a:spAutoFit/>
          </a:bodyPr>
          <a:lstStyle/>
          <a:p>
            <a:pPr algn="l">
              <a:lnSpc>
                <a:spcPts val="3009"/>
              </a:lnSpc>
            </a:pPr>
            <a:r>
              <a:rPr lang="en-US" sz="2149">
                <a:solidFill>
                  <a:srgbClr val="800020"/>
                </a:solidFill>
                <a:latin typeface="Canva Sans"/>
                <a:ea typeface="Canva Sans"/>
                <a:cs typeface="Canva Sans"/>
                <a:sym typeface="Canva Sans"/>
              </a:rPr>
              <a:t>Provided a </a:t>
            </a:r>
            <a:r>
              <a:rPr lang="en-US" sz="2149" b="1">
                <a:solidFill>
                  <a:srgbClr val="800020"/>
                </a:solidFill>
                <a:latin typeface="Canva Sans Bold"/>
                <a:ea typeface="Canva Sans Bold"/>
                <a:cs typeface="Canva Sans Bold"/>
                <a:sym typeface="Canva Sans Bold"/>
              </a:rPr>
              <a:t>single source</a:t>
            </a:r>
            <a:r>
              <a:rPr lang="en-US" sz="2149">
                <a:solidFill>
                  <a:srgbClr val="800020"/>
                </a:solidFill>
                <a:latin typeface="Canva Sans"/>
                <a:ea typeface="Canva Sans"/>
                <a:cs typeface="Canva Sans"/>
                <a:sym typeface="Canva Sans"/>
              </a:rPr>
              <a:t> of truth for </a:t>
            </a:r>
            <a:r>
              <a:rPr lang="en-US" sz="2149" b="1">
                <a:solidFill>
                  <a:srgbClr val="800020"/>
                </a:solidFill>
                <a:latin typeface="Canva Sans Bold"/>
                <a:ea typeface="Canva Sans Bold"/>
                <a:cs typeface="Canva Sans Bold"/>
                <a:sym typeface="Canva Sans Bold"/>
              </a:rPr>
              <a:t>all department</a:t>
            </a:r>
            <a:r>
              <a:rPr lang="en-US" sz="2149">
                <a:solidFill>
                  <a:srgbClr val="800020"/>
                </a:solidFill>
                <a:latin typeface="Canva Sans"/>
                <a:ea typeface="Canva Sans"/>
                <a:cs typeface="Canva Sans"/>
                <a:sym typeface="Canva Sans"/>
              </a:rPr>
              <a:t>s to monitor performance and align strategic goals globally.</a:t>
            </a: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8273235" y="0"/>
            <a:ext cx="10166736" cy="10287000"/>
            <a:chOff x="0" y="0"/>
            <a:chExt cx="13555648" cy="13716000"/>
          </a:xfrm>
        </p:grpSpPr>
        <p:sp>
          <p:nvSpPr>
            <p:cNvPr id="3" name="Freeform 3"/>
            <p:cNvSpPr/>
            <p:nvPr/>
          </p:nvSpPr>
          <p:spPr>
            <a:xfrm>
              <a:off x="0" y="0"/>
              <a:ext cx="13555599" cy="13716000"/>
            </a:xfrm>
            <a:custGeom>
              <a:avLst/>
              <a:gdLst/>
              <a:ahLst/>
              <a:cxnLst/>
              <a:rect l="l" t="t" r="r" b="b"/>
              <a:pathLst>
                <a:path w="13555599" h="13716000">
                  <a:moveTo>
                    <a:pt x="0" y="0"/>
                  </a:moveTo>
                  <a:lnTo>
                    <a:pt x="13555599" y="0"/>
                  </a:lnTo>
                  <a:lnTo>
                    <a:pt x="13555599" y="13716000"/>
                  </a:lnTo>
                  <a:lnTo>
                    <a:pt x="0" y="13716000"/>
                  </a:lnTo>
                  <a:close/>
                </a:path>
              </a:pathLst>
            </a:custGeom>
            <a:solidFill>
              <a:srgbClr val="E8C7C8"/>
            </a:solidFill>
            <a:ln w="12700">
              <a:solidFill>
                <a:srgbClr val="000000"/>
              </a:solidFill>
            </a:ln>
          </p:spPr>
        </p:sp>
      </p:grpSp>
      <p:sp>
        <p:nvSpPr>
          <p:cNvPr id="4" name="Freeform 4"/>
          <p:cNvSpPr/>
          <p:nvPr/>
        </p:nvSpPr>
        <p:spPr>
          <a:xfrm>
            <a:off x="72508" y="2726591"/>
            <a:ext cx="7762577" cy="573682"/>
          </a:xfrm>
          <a:custGeom>
            <a:avLst/>
            <a:gdLst/>
            <a:ahLst/>
            <a:cxnLst/>
            <a:rect l="l" t="t" r="r" b="b"/>
            <a:pathLst>
              <a:path w="7762577" h="573682">
                <a:moveTo>
                  <a:pt x="0" y="0"/>
                </a:moveTo>
                <a:lnTo>
                  <a:pt x="7762577" y="0"/>
                </a:lnTo>
                <a:lnTo>
                  <a:pt x="7762577" y="573682"/>
                </a:lnTo>
                <a:lnTo>
                  <a:pt x="0" y="573682"/>
                </a:lnTo>
                <a:lnTo>
                  <a:pt x="0" y="0"/>
                </a:lnTo>
                <a:close/>
              </a:path>
            </a:pathLst>
          </a:custGeom>
          <a:blipFill>
            <a:blip r:embed="rId2">
              <a:extLst>
                <a:ext uri="{96DAC541-7B7A-43D3-8B79-37D633B846F1}">
                  <asvg:svgBlip xmlns:asvg="http://schemas.microsoft.com/office/drawing/2016/SVG/main" r:embed="rId3"/>
                </a:ext>
              </a:extLst>
            </a:blip>
            <a:stretch>
              <a:fillRect t="-626557" b="-626557"/>
            </a:stretch>
          </a:blipFill>
        </p:spPr>
      </p:sp>
      <p:grpSp>
        <p:nvGrpSpPr>
          <p:cNvPr id="5" name="Group 5"/>
          <p:cNvGrpSpPr/>
          <p:nvPr/>
        </p:nvGrpSpPr>
        <p:grpSpPr>
          <a:xfrm>
            <a:off x="1527139" y="5102374"/>
            <a:ext cx="4793884" cy="4155925"/>
            <a:chOff x="0" y="0"/>
            <a:chExt cx="5947147" cy="5155715"/>
          </a:xfrm>
        </p:grpSpPr>
        <p:sp>
          <p:nvSpPr>
            <p:cNvPr id="6" name="Freeform 6"/>
            <p:cNvSpPr/>
            <p:nvPr/>
          </p:nvSpPr>
          <p:spPr>
            <a:xfrm>
              <a:off x="0" y="0"/>
              <a:ext cx="5947156" cy="5155692"/>
            </a:xfrm>
            <a:custGeom>
              <a:avLst/>
              <a:gdLst/>
              <a:ahLst/>
              <a:cxnLst/>
              <a:rect l="l" t="t" r="r" b="b"/>
              <a:pathLst>
                <a:path w="5947156" h="5155692">
                  <a:moveTo>
                    <a:pt x="0" y="0"/>
                  </a:moveTo>
                  <a:lnTo>
                    <a:pt x="5947156" y="0"/>
                  </a:lnTo>
                  <a:lnTo>
                    <a:pt x="5947156" y="5155692"/>
                  </a:lnTo>
                  <a:lnTo>
                    <a:pt x="0" y="5155692"/>
                  </a:lnTo>
                  <a:lnTo>
                    <a:pt x="0" y="0"/>
                  </a:lnTo>
                  <a:close/>
                </a:path>
              </a:pathLst>
            </a:custGeom>
            <a:blipFill>
              <a:blip r:embed="rId4"/>
              <a:stretch>
                <a:fillRect t="-7675" b="-7675"/>
              </a:stretch>
            </a:blipFill>
          </p:spPr>
        </p:sp>
      </p:grpSp>
      <p:grpSp>
        <p:nvGrpSpPr>
          <p:cNvPr id="7" name="Group 7"/>
          <p:cNvGrpSpPr/>
          <p:nvPr/>
        </p:nvGrpSpPr>
        <p:grpSpPr>
          <a:xfrm rot="4946">
            <a:off x="8914102" y="8953"/>
            <a:ext cx="9373833" cy="10287000"/>
            <a:chOff x="0" y="0"/>
            <a:chExt cx="12498444" cy="13716000"/>
          </a:xfrm>
        </p:grpSpPr>
        <p:sp>
          <p:nvSpPr>
            <p:cNvPr id="8" name="Freeform 8"/>
            <p:cNvSpPr/>
            <p:nvPr/>
          </p:nvSpPr>
          <p:spPr>
            <a:xfrm>
              <a:off x="0" y="0"/>
              <a:ext cx="12498453" cy="13716000"/>
            </a:xfrm>
            <a:custGeom>
              <a:avLst/>
              <a:gdLst/>
              <a:ahLst/>
              <a:cxnLst/>
              <a:rect l="l" t="t" r="r" b="b"/>
              <a:pathLst>
                <a:path w="12498453" h="13716000">
                  <a:moveTo>
                    <a:pt x="0" y="0"/>
                  </a:moveTo>
                  <a:lnTo>
                    <a:pt x="12498453" y="0"/>
                  </a:lnTo>
                  <a:lnTo>
                    <a:pt x="12498453" y="13716000"/>
                  </a:lnTo>
                  <a:lnTo>
                    <a:pt x="0" y="13716000"/>
                  </a:lnTo>
                  <a:lnTo>
                    <a:pt x="0" y="0"/>
                  </a:lnTo>
                  <a:close/>
                </a:path>
              </a:pathLst>
            </a:custGeom>
            <a:blipFill>
              <a:blip r:embed="rId5"/>
              <a:stretch>
                <a:fillRect l="-11744" r="-11744"/>
              </a:stretch>
            </a:blipFill>
          </p:spPr>
        </p:sp>
      </p:grpSp>
      <p:sp>
        <p:nvSpPr>
          <p:cNvPr id="9" name="TextBox 9"/>
          <p:cNvSpPr txBox="1"/>
          <p:nvPr/>
        </p:nvSpPr>
        <p:spPr>
          <a:xfrm>
            <a:off x="72508" y="152400"/>
            <a:ext cx="8422451" cy="2317750"/>
          </a:xfrm>
          <a:prstGeom prst="rect">
            <a:avLst/>
          </a:prstGeom>
        </p:spPr>
        <p:txBody>
          <a:bodyPr lIns="0" tIns="0" rIns="0" bIns="0" rtlCol="0" anchor="t">
            <a:spAutoFit/>
          </a:bodyPr>
          <a:lstStyle/>
          <a:p>
            <a:pPr algn="l">
              <a:lnSpc>
                <a:spcPts val="9349"/>
              </a:lnSpc>
            </a:pPr>
            <a:r>
              <a:rPr lang="en-US" sz="8499">
                <a:solidFill>
                  <a:srgbClr val="800020"/>
                </a:solidFill>
                <a:latin typeface="Hammersmith One"/>
                <a:ea typeface="Hammersmith One"/>
                <a:cs typeface="Hammersmith One"/>
                <a:sym typeface="Hammersmith One"/>
              </a:rPr>
              <a:t>Business Model Overview</a:t>
            </a:r>
          </a:p>
        </p:txBody>
      </p:sp>
      <p:sp>
        <p:nvSpPr>
          <p:cNvPr id="10" name="TextBox 10"/>
          <p:cNvSpPr txBox="1"/>
          <p:nvPr/>
        </p:nvSpPr>
        <p:spPr>
          <a:xfrm>
            <a:off x="430917" y="9420225"/>
            <a:ext cx="7842318" cy="887070"/>
          </a:xfrm>
          <a:prstGeom prst="rect">
            <a:avLst/>
          </a:prstGeom>
        </p:spPr>
        <p:txBody>
          <a:bodyPr lIns="0" tIns="0" rIns="0" bIns="0" rtlCol="0" anchor="t">
            <a:spAutoFit/>
          </a:bodyPr>
          <a:lstStyle/>
          <a:p>
            <a:pPr algn="ctr">
              <a:lnSpc>
                <a:spcPts val="7278"/>
              </a:lnSpc>
            </a:pPr>
            <a:r>
              <a:rPr lang="en-US" sz="5198" b="1">
                <a:solidFill>
                  <a:srgbClr val="800020"/>
                </a:solidFill>
                <a:latin typeface="Canva Sans Bold"/>
                <a:ea typeface="Canva Sans Bold"/>
                <a:cs typeface="Canva Sans Bold"/>
                <a:sym typeface="Canva Sans Bold"/>
              </a:rPr>
              <a:t>Atliq Hardware</a:t>
            </a:r>
          </a:p>
        </p:txBody>
      </p:sp>
      <p:grpSp>
        <p:nvGrpSpPr>
          <p:cNvPr id="11" name="Group 11"/>
          <p:cNvGrpSpPr/>
          <p:nvPr/>
        </p:nvGrpSpPr>
        <p:grpSpPr>
          <a:xfrm>
            <a:off x="8476016" y="1235075"/>
            <a:ext cx="3421959" cy="57150"/>
            <a:chOff x="0" y="0"/>
            <a:chExt cx="4562612" cy="76200"/>
          </a:xfrm>
        </p:grpSpPr>
        <p:sp>
          <p:nvSpPr>
            <p:cNvPr id="12" name="Freeform 12"/>
            <p:cNvSpPr/>
            <p:nvPr/>
          </p:nvSpPr>
          <p:spPr>
            <a:xfrm>
              <a:off x="25273" y="0"/>
              <a:ext cx="4512056" cy="358775"/>
            </a:xfrm>
            <a:custGeom>
              <a:avLst/>
              <a:gdLst/>
              <a:ahLst/>
              <a:cxnLst/>
              <a:rect l="l" t="t" r="r" b="b"/>
              <a:pathLst>
                <a:path w="4512056" h="358775">
                  <a:moveTo>
                    <a:pt x="558800" y="22225"/>
                  </a:moveTo>
                  <a:lnTo>
                    <a:pt x="965200" y="19939"/>
                  </a:lnTo>
                  <a:lnTo>
                    <a:pt x="965454" y="70739"/>
                  </a:lnTo>
                  <a:lnTo>
                    <a:pt x="559054" y="73025"/>
                  </a:lnTo>
                  <a:close/>
                  <a:moveTo>
                    <a:pt x="1117854" y="69850"/>
                  </a:moveTo>
                  <a:lnTo>
                    <a:pt x="1524254" y="67564"/>
                  </a:lnTo>
                  <a:lnTo>
                    <a:pt x="1524508" y="118364"/>
                  </a:lnTo>
                  <a:lnTo>
                    <a:pt x="1118108" y="120650"/>
                  </a:lnTo>
                  <a:close/>
                  <a:moveTo>
                    <a:pt x="1676908" y="117475"/>
                  </a:moveTo>
                  <a:lnTo>
                    <a:pt x="2083308" y="115189"/>
                  </a:lnTo>
                  <a:lnTo>
                    <a:pt x="2083562" y="165989"/>
                  </a:lnTo>
                  <a:lnTo>
                    <a:pt x="1677162" y="168275"/>
                  </a:lnTo>
                  <a:close/>
                  <a:moveTo>
                    <a:pt x="2235962" y="165100"/>
                  </a:moveTo>
                  <a:lnTo>
                    <a:pt x="2642362" y="162814"/>
                  </a:lnTo>
                  <a:lnTo>
                    <a:pt x="2642616" y="213614"/>
                  </a:lnTo>
                  <a:lnTo>
                    <a:pt x="2236216" y="215900"/>
                  </a:lnTo>
                  <a:close/>
                  <a:moveTo>
                    <a:pt x="2795016" y="212725"/>
                  </a:moveTo>
                  <a:lnTo>
                    <a:pt x="3201416" y="210439"/>
                  </a:lnTo>
                  <a:lnTo>
                    <a:pt x="3201670" y="261239"/>
                  </a:lnTo>
                  <a:lnTo>
                    <a:pt x="2795270" y="263525"/>
                  </a:lnTo>
                  <a:close/>
                  <a:moveTo>
                    <a:pt x="3354070" y="260350"/>
                  </a:moveTo>
                  <a:lnTo>
                    <a:pt x="3760470" y="258064"/>
                  </a:lnTo>
                  <a:lnTo>
                    <a:pt x="3760724" y="308864"/>
                  </a:lnTo>
                  <a:lnTo>
                    <a:pt x="3354324" y="311150"/>
                  </a:lnTo>
                  <a:close/>
                  <a:moveTo>
                    <a:pt x="3913124" y="307975"/>
                  </a:moveTo>
                  <a:lnTo>
                    <a:pt x="4319524" y="305689"/>
                  </a:lnTo>
                  <a:lnTo>
                    <a:pt x="4319778" y="356489"/>
                  </a:lnTo>
                  <a:lnTo>
                    <a:pt x="3913378" y="358775"/>
                  </a:lnTo>
                  <a:close/>
                  <a:moveTo>
                    <a:pt x="4472178" y="355600"/>
                  </a:moveTo>
                  <a:lnTo>
                    <a:pt x="4511802" y="0"/>
                  </a:lnTo>
                  <a:lnTo>
                    <a:pt x="4512056" y="50800"/>
                  </a:lnTo>
                  <a:lnTo>
                    <a:pt x="4470527" y="51054"/>
                  </a:lnTo>
                  <a:close/>
                  <a:moveTo>
                    <a:pt x="0" y="25400"/>
                  </a:moveTo>
                  <a:lnTo>
                    <a:pt x="406400" y="23114"/>
                  </a:lnTo>
                  <a:lnTo>
                    <a:pt x="406654" y="73914"/>
                  </a:lnTo>
                  <a:lnTo>
                    <a:pt x="254" y="76200"/>
                  </a:lnTo>
                  <a:close/>
                </a:path>
              </a:pathLst>
            </a:custGeom>
            <a:solidFill>
              <a:srgbClr val="000000"/>
            </a:solidFill>
            <a:ln w="12700">
              <a:solidFill>
                <a:srgbClr val="000000"/>
              </a:solidFill>
            </a:ln>
          </p:spPr>
        </p:sp>
      </p:grpSp>
      <p:grpSp>
        <p:nvGrpSpPr>
          <p:cNvPr id="13" name="Group 13"/>
          <p:cNvGrpSpPr/>
          <p:nvPr/>
        </p:nvGrpSpPr>
        <p:grpSpPr>
          <a:xfrm>
            <a:off x="8273235" y="0"/>
            <a:ext cx="10014765" cy="1730271"/>
            <a:chOff x="0" y="0"/>
            <a:chExt cx="13353020" cy="2307028"/>
          </a:xfrm>
        </p:grpSpPr>
        <p:sp>
          <p:nvSpPr>
            <p:cNvPr id="14" name="Freeform 14"/>
            <p:cNvSpPr/>
            <p:nvPr/>
          </p:nvSpPr>
          <p:spPr>
            <a:xfrm>
              <a:off x="0" y="0"/>
              <a:ext cx="13353035" cy="2307082"/>
            </a:xfrm>
            <a:custGeom>
              <a:avLst/>
              <a:gdLst/>
              <a:ahLst/>
              <a:cxnLst/>
              <a:rect l="l" t="t" r="r" b="b"/>
              <a:pathLst>
                <a:path w="13353035" h="2307082">
                  <a:moveTo>
                    <a:pt x="0" y="0"/>
                  </a:moveTo>
                  <a:lnTo>
                    <a:pt x="13353035" y="0"/>
                  </a:lnTo>
                  <a:lnTo>
                    <a:pt x="13353035" y="2307082"/>
                  </a:lnTo>
                  <a:lnTo>
                    <a:pt x="0" y="2307082"/>
                  </a:lnTo>
                  <a:close/>
                </a:path>
              </a:pathLst>
            </a:custGeom>
            <a:solidFill>
              <a:srgbClr val="E8C7C8"/>
            </a:solidFill>
            <a:ln w="12700">
              <a:solidFill>
                <a:srgbClr val="E8C7C8"/>
              </a:solidFill>
            </a:ln>
          </p:spPr>
        </p:sp>
      </p:grpSp>
      <p:grpSp>
        <p:nvGrpSpPr>
          <p:cNvPr id="15" name="Group 15"/>
          <p:cNvGrpSpPr/>
          <p:nvPr/>
        </p:nvGrpSpPr>
        <p:grpSpPr>
          <a:xfrm rot="-5400000">
            <a:off x="9192539" y="3382388"/>
            <a:ext cx="9181740" cy="3528668"/>
            <a:chOff x="0" y="0"/>
            <a:chExt cx="12242320" cy="4704891"/>
          </a:xfrm>
        </p:grpSpPr>
        <p:sp>
          <p:nvSpPr>
            <p:cNvPr id="16" name="Freeform 16"/>
            <p:cNvSpPr/>
            <p:nvPr/>
          </p:nvSpPr>
          <p:spPr>
            <a:xfrm>
              <a:off x="0" y="0"/>
              <a:ext cx="12242292" cy="4704842"/>
            </a:xfrm>
            <a:custGeom>
              <a:avLst/>
              <a:gdLst/>
              <a:ahLst/>
              <a:cxnLst/>
              <a:rect l="l" t="t" r="r" b="b"/>
              <a:pathLst>
                <a:path w="12242292" h="4704842">
                  <a:moveTo>
                    <a:pt x="0" y="0"/>
                  </a:moveTo>
                  <a:lnTo>
                    <a:pt x="12242292" y="0"/>
                  </a:lnTo>
                  <a:lnTo>
                    <a:pt x="12242292" y="4704842"/>
                  </a:lnTo>
                  <a:lnTo>
                    <a:pt x="0" y="4704842"/>
                  </a:lnTo>
                  <a:close/>
                </a:path>
              </a:pathLst>
            </a:custGeom>
            <a:solidFill>
              <a:srgbClr val="E8C7C8"/>
            </a:solidFill>
            <a:ln w="12700">
              <a:solidFill>
                <a:srgbClr val="E8C7C8"/>
              </a:solidFill>
            </a:ln>
          </p:spPr>
        </p:sp>
      </p:grpSp>
      <p:grpSp>
        <p:nvGrpSpPr>
          <p:cNvPr id="17" name="Group 17"/>
          <p:cNvGrpSpPr/>
          <p:nvPr/>
        </p:nvGrpSpPr>
        <p:grpSpPr>
          <a:xfrm>
            <a:off x="12227134" y="1500414"/>
            <a:ext cx="6106371" cy="1120775"/>
            <a:chOff x="0" y="0"/>
            <a:chExt cx="8141829" cy="1494367"/>
          </a:xfrm>
          <a:solidFill>
            <a:srgbClr val="E8C7C8"/>
          </a:solidFill>
        </p:grpSpPr>
        <p:sp>
          <p:nvSpPr>
            <p:cNvPr id="18" name="Freeform 18"/>
            <p:cNvSpPr/>
            <p:nvPr/>
          </p:nvSpPr>
          <p:spPr>
            <a:xfrm>
              <a:off x="0" y="0"/>
              <a:ext cx="8141794" cy="1494409"/>
            </a:xfrm>
            <a:custGeom>
              <a:avLst/>
              <a:gdLst/>
              <a:ahLst/>
              <a:cxnLst/>
              <a:rect l="l" t="t" r="r" b="b"/>
              <a:pathLst>
                <a:path w="8141794" h="1494409">
                  <a:moveTo>
                    <a:pt x="0" y="0"/>
                  </a:moveTo>
                  <a:lnTo>
                    <a:pt x="8141794" y="0"/>
                  </a:lnTo>
                  <a:lnTo>
                    <a:pt x="8141794" y="1494409"/>
                  </a:lnTo>
                  <a:lnTo>
                    <a:pt x="0" y="1494409"/>
                  </a:lnTo>
                  <a:close/>
                </a:path>
              </a:pathLst>
            </a:custGeom>
            <a:grpFill/>
            <a:ln w="12700">
              <a:solidFill>
                <a:srgbClr val="E8C7C8"/>
              </a:solidFill>
            </a:ln>
          </p:spPr>
        </p:sp>
      </p:grpSp>
      <p:grpSp>
        <p:nvGrpSpPr>
          <p:cNvPr id="19" name="Group 19"/>
          <p:cNvGrpSpPr/>
          <p:nvPr/>
        </p:nvGrpSpPr>
        <p:grpSpPr>
          <a:xfrm rot="5400000">
            <a:off x="15043618" y="4505808"/>
            <a:ext cx="5840428" cy="648336"/>
            <a:chOff x="0" y="0"/>
            <a:chExt cx="7787237" cy="864448"/>
          </a:xfrm>
        </p:grpSpPr>
        <p:sp>
          <p:nvSpPr>
            <p:cNvPr id="20" name="Freeform 20"/>
            <p:cNvSpPr/>
            <p:nvPr/>
          </p:nvSpPr>
          <p:spPr>
            <a:xfrm>
              <a:off x="0" y="0"/>
              <a:ext cx="7787259" cy="864489"/>
            </a:xfrm>
            <a:custGeom>
              <a:avLst/>
              <a:gdLst/>
              <a:ahLst/>
              <a:cxnLst/>
              <a:rect l="l" t="t" r="r" b="b"/>
              <a:pathLst>
                <a:path w="7787259" h="864489">
                  <a:moveTo>
                    <a:pt x="0" y="0"/>
                  </a:moveTo>
                  <a:lnTo>
                    <a:pt x="7787259" y="0"/>
                  </a:lnTo>
                  <a:lnTo>
                    <a:pt x="7787259" y="864489"/>
                  </a:lnTo>
                  <a:lnTo>
                    <a:pt x="0" y="864489"/>
                  </a:lnTo>
                  <a:close/>
                </a:path>
              </a:pathLst>
            </a:custGeom>
            <a:solidFill>
              <a:srgbClr val="E8C7C8"/>
            </a:solidFill>
            <a:ln w="12700">
              <a:solidFill>
                <a:srgbClr val="E8C7C8"/>
              </a:solidFill>
            </a:ln>
          </p:spPr>
        </p:sp>
      </p:grpSp>
      <p:grpSp>
        <p:nvGrpSpPr>
          <p:cNvPr id="21" name="Group 21"/>
          <p:cNvGrpSpPr/>
          <p:nvPr/>
        </p:nvGrpSpPr>
        <p:grpSpPr>
          <a:xfrm>
            <a:off x="11878925" y="7680429"/>
            <a:ext cx="6206768" cy="1577871"/>
            <a:chOff x="0" y="0"/>
            <a:chExt cx="8275691" cy="2103828"/>
          </a:xfrm>
        </p:grpSpPr>
        <p:sp>
          <p:nvSpPr>
            <p:cNvPr id="22" name="Freeform 22"/>
            <p:cNvSpPr/>
            <p:nvPr/>
          </p:nvSpPr>
          <p:spPr>
            <a:xfrm>
              <a:off x="0" y="0"/>
              <a:ext cx="8275701" cy="2103882"/>
            </a:xfrm>
            <a:custGeom>
              <a:avLst/>
              <a:gdLst/>
              <a:ahLst/>
              <a:cxnLst/>
              <a:rect l="l" t="t" r="r" b="b"/>
              <a:pathLst>
                <a:path w="8275701" h="2103882">
                  <a:moveTo>
                    <a:pt x="0" y="0"/>
                  </a:moveTo>
                  <a:lnTo>
                    <a:pt x="8275701" y="0"/>
                  </a:lnTo>
                  <a:lnTo>
                    <a:pt x="8275701" y="2103882"/>
                  </a:lnTo>
                  <a:lnTo>
                    <a:pt x="0" y="2103882"/>
                  </a:lnTo>
                  <a:close/>
                </a:path>
              </a:pathLst>
            </a:custGeom>
            <a:solidFill>
              <a:srgbClr val="E8C7C8"/>
            </a:solidFill>
            <a:ln w="12700">
              <a:solidFill>
                <a:srgbClr val="E8C7C8"/>
              </a:solidFill>
            </a:ln>
          </p:spPr>
        </p:sp>
      </p:grpSp>
      <p:grpSp>
        <p:nvGrpSpPr>
          <p:cNvPr id="23" name="Group 23"/>
          <p:cNvGrpSpPr/>
          <p:nvPr/>
        </p:nvGrpSpPr>
        <p:grpSpPr>
          <a:xfrm>
            <a:off x="11878925" y="4454495"/>
            <a:ext cx="1169362" cy="1378010"/>
            <a:chOff x="0" y="0"/>
            <a:chExt cx="1559149" cy="1837347"/>
          </a:xfrm>
        </p:grpSpPr>
        <p:sp>
          <p:nvSpPr>
            <p:cNvPr id="24" name="Freeform 24"/>
            <p:cNvSpPr/>
            <p:nvPr/>
          </p:nvSpPr>
          <p:spPr>
            <a:xfrm>
              <a:off x="0" y="0"/>
              <a:ext cx="1559143" cy="1837309"/>
            </a:xfrm>
            <a:custGeom>
              <a:avLst/>
              <a:gdLst/>
              <a:ahLst/>
              <a:cxnLst/>
              <a:rect l="l" t="t" r="r" b="b"/>
              <a:pathLst>
                <a:path w="1559143" h="1837309">
                  <a:moveTo>
                    <a:pt x="0" y="0"/>
                  </a:moveTo>
                  <a:lnTo>
                    <a:pt x="1559143" y="0"/>
                  </a:lnTo>
                  <a:lnTo>
                    <a:pt x="1559143" y="1837309"/>
                  </a:lnTo>
                  <a:lnTo>
                    <a:pt x="0" y="1837309"/>
                  </a:lnTo>
                  <a:close/>
                </a:path>
              </a:pathLst>
            </a:custGeom>
            <a:solidFill>
              <a:srgbClr val="008B8B"/>
            </a:solidFill>
            <a:ln w="12700">
              <a:solidFill>
                <a:srgbClr val="000000"/>
              </a:solidFill>
            </a:ln>
          </p:spPr>
        </p:sp>
      </p:grpSp>
      <p:grpSp>
        <p:nvGrpSpPr>
          <p:cNvPr id="25" name="Group 25"/>
          <p:cNvGrpSpPr/>
          <p:nvPr/>
        </p:nvGrpSpPr>
        <p:grpSpPr>
          <a:xfrm>
            <a:off x="8495066" y="9654223"/>
            <a:ext cx="9868919" cy="632777"/>
            <a:chOff x="0" y="0"/>
            <a:chExt cx="13158559" cy="843703"/>
          </a:xfrm>
          <a:solidFill>
            <a:srgbClr val="E8C7C8"/>
          </a:solidFill>
        </p:grpSpPr>
        <p:sp>
          <p:nvSpPr>
            <p:cNvPr id="26" name="Freeform 26"/>
            <p:cNvSpPr/>
            <p:nvPr/>
          </p:nvSpPr>
          <p:spPr>
            <a:xfrm>
              <a:off x="0" y="0"/>
              <a:ext cx="13158597" cy="843661"/>
            </a:xfrm>
            <a:custGeom>
              <a:avLst/>
              <a:gdLst/>
              <a:ahLst/>
              <a:cxnLst/>
              <a:rect l="l" t="t" r="r" b="b"/>
              <a:pathLst>
                <a:path w="13158597" h="843661">
                  <a:moveTo>
                    <a:pt x="0" y="0"/>
                  </a:moveTo>
                  <a:lnTo>
                    <a:pt x="13158597" y="0"/>
                  </a:lnTo>
                  <a:lnTo>
                    <a:pt x="13158597" y="843661"/>
                  </a:lnTo>
                  <a:lnTo>
                    <a:pt x="0" y="843661"/>
                  </a:lnTo>
                  <a:close/>
                </a:path>
              </a:pathLst>
            </a:custGeom>
            <a:grpFill/>
            <a:ln w="12700">
              <a:solidFill>
                <a:srgbClr val="E8C7C8"/>
              </a:solidFill>
            </a:ln>
          </p:spPr>
        </p:sp>
      </p:grpSp>
      <p:grpSp>
        <p:nvGrpSpPr>
          <p:cNvPr id="27" name="Group 27"/>
          <p:cNvGrpSpPr/>
          <p:nvPr/>
        </p:nvGrpSpPr>
        <p:grpSpPr>
          <a:xfrm>
            <a:off x="5820931" y="2570972"/>
            <a:ext cx="3115905" cy="5062805"/>
            <a:chOff x="0" y="0"/>
            <a:chExt cx="4154540" cy="6750407"/>
          </a:xfrm>
        </p:grpSpPr>
        <p:sp>
          <p:nvSpPr>
            <p:cNvPr id="28" name="Freeform 28"/>
            <p:cNvSpPr/>
            <p:nvPr/>
          </p:nvSpPr>
          <p:spPr>
            <a:xfrm>
              <a:off x="3683" y="12192"/>
              <a:ext cx="4147058" cy="6726047"/>
            </a:xfrm>
            <a:custGeom>
              <a:avLst/>
              <a:gdLst/>
              <a:ahLst/>
              <a:cxnLst/>
              <a:rect l="l" t="t" r="r" b="b"/>
              <a:pathLst>
                <a:path w="4147058" h="6726047">
                  <a:moveTo>
                    <a:pt x="4147058" y="26416"/>
                  </a:moveTo>
                  <a:lnTo>
                    <a:pt x="43434" y="6726047"/>
                  </a:lnTo>
                  <a:lnTo>
                    <a:pt x="0" y="6699504"/>
                  </a:lnTo>
                  <a:lnTo>
                    <a:pt x="4103751" y="0"/>
                  </a:lnTo>
                  <a:close/>
                </a:path>
              </a:pathLst>
            </a:custGeom>
            <a:solidFill>
              <a:srgbClr val="000000"/>
            </a:solidFill>
            <a:ln w="12700">
              <a:solidFill>
                <a:srgbClr val="000000"/>
              </a:solidFill>
            </a:ln>
          </p:spPr>
        </p:sp>
      </p:grpSp>
      <p:grpSp>
        <p:nvGrpSpPr>
          <p:cNvPr id="29" name="Group 29"/>
          <p:cNvGrpSpPr/>
          <p:nvPr/>
        </p:nvGrpSpPr>
        <p:grpSpPr>
          <a:xfrm>
            <a:off x="5874981" y="4795698"/>
            <a:ext cx="3269019" cy="2825255"/>
            <a:chOff x="0" y="0"/>
            <a:chExt cx="4067701" cy="3515518"/>
          </a:xfrm>
        </p:grpSpPr>
        <p:sp>
          <p:nvSpPr>
            <p:cNvPr id="30" name="Freeform 30"/>
            <p:cNvSpPr/>
            <p:nvPr/>
          </p:nvSpPr>
          <p:spPr>
            <a:xfrm>
              <a:off x="10414" y="5808"/>
              <a:ext cx="4046982" cy="3503874"/>
            </a:xfrm>
            <a:custGeom>
              <a:avLst/>
              <a:gdLst/>
              <a:ahLst/>
              <a:cxnLst/>
              <a:rect l="l" t="t" r="r" b="b"/>
              <a:pathLst>
                <a:path w="4046982" h="3503874">
                  <a:moveTo>
                    <a:pt x="0" y="3455921"/>
                  </a:moveTo>
                  <a:lnTo>
                    <a:pt x="4016883" y="0"/>
                  </a:lnTo>
                  <a:lnTo>
                    <a:pt x="4046982" y="48102"/>
                  </a:lnTo>
                  <a:lnTo>
                    <a:pt x="29972" y="3503874"/>
                  </a:lnTo>
                  <a:close/>
                </a:path>
              </a:pathLst>
            </a:custGeom>
            <a:solidFill>
              <a:srgbClr val="000000"/>
            </a:solidFill>
            <a:ln w="12700">
              <a:solidFill>
                <a:srgbClr val="000000"/>
              </a:solidFill>
            </a:ln>
          </p:spPr>
        </p:sp>
      </p:grpSp>
      <p:grpSp>
        <p:nvGrpSpPr>
          <p:cNvPr id="31" name="Group 31"/>
          <p:cNvGrpSpPr/>
          <p:nvPr/>
        </p:nvGrpSpPr>
        <p:grpSpPr>
          <a:xfrm>
            <a:off x="5874981" y="6714709"/>
            <a:ext cx="3396693" cy="919068"/>
            <a:chOff x="0" y="0"/>
            <a:chExt cx="4528924" cy="1225424"/>
          </a:xfrm>
        </p:grpSpPr>
        <p:sp>
          <p:nvSpPr>
            <p:cNvPr id="32" name="Freeform 32"/>
            <p:cNvSpPr/>
            <p:nvPr/>
          </p:nvSpPr>
          <p:spPr>
            <a:xfrm>
              <a:off x="20193" y="628"/>
              <a:ext cx="4488561" cy="1224197"/>
            </a:xfrm>
            <a:custGeom>
              <a:avLst/>
              <a:gdLst/>
              <a:ahLst/>
              <a:cxnLst/>
              <a:rect l="l" t="t" r="r" b="b"/>
              <a:pathLst>
                <a:path w="4488561" h="1224197">
                  <a:moveTo>
                    <a:pt x="4488561" y="61532"/>
                  </a:moveTo>
                  <a:lnTo>
                    <a:pt x="10414" y="1224197"/>
                  </a:lnTo>
                  <a:lnTo>
                    <a:pt x="0" y="1162823"/>
                  </a:lnTo>
                  <a:lnTo>
                    <a:pt x="4478147" y="0"/>
                  </a:lnTo>
                  <a:close/>
                </a:path>
              </a:pathLst>
            </a:custGeom>
            <a:solidFill>
              <a:srgbClr val="000000"/>
            </a:solidFill>
            <a:ln w="12700">
              <a:solidFill>
                <a:srgbClr val="000000"/>
              </a:solidFill>
            </a:ln>
          </p:spPr>
        </p:sp>
      </p:grpSp>
      <p:grpSp>
        <p:nvGrpSpPr>
          <p:cNvPr id="33" name="Group 33"/>
          <p:cNvGrpSpPr/>
          <p:nvPr/>
        </p:nvGrpSpPr>
        <p:grpSpPr>
          <a:xfrm>
            <a:off x="5820931" y="7620953"/>
            <a:ext cx="3323069" cy="1174894"/>
            <a:chOff x="0" y="0"/>
            <a:chExt cx="4376900" cy="1547483"/>
          </a:xfrm>
        </p:grpSpPr>
        <p:sp>
          <p:nvSpPr>
            <p:cNvPr id="34" name="Freeform 34"/>
            <p:cNvSpPr/>
            <p:nvPr/>
          </p:nvSpPr>
          <p:spPr>
            <a:xfrm>
              <a:off x="15875" y="1630"/>
              <a:ext cx="4345178" cy="1544241"/>
            </a:xfrm>
            <a:custGeom>
              <a:avLst/>
              <a:gdLst/>
              <a:ahLst/>
              <a:cxnLst/>
              <a:rect l="l" t="t" r="r" b="b"/>
              <a:pathLst>
                <a:path w="4345178" h="1544241">
                  <a:moveTo>
                    <a:pt x="4326001" y="1544241"/>
                  </a:moveTo>
                  <a:lnTo>
                    <a:pt x="0" y="40203"/>
                  </a:lnTo>
                  <a:lnTo>
                    <a:pt x="19050" y="0"/>
                  </a:lnTo>
                  <a:lnTo>
                    <a:pt x="4345178" y="1504038"/>
                  </a:lnTo>
                  <a:close/>
                </a:path>
              </a:pathLst>
            </a:custGeom>
            <a:solidFill>
              <a:srgbClr val="000000"/>
            </a:solidFill>
            <a:ln w="12700">
              <a:solidFill>
                <a:srgbClr val="000000"/>
              </a:solidFill>
            </a:ln>
          </p:spPr>
        </p:sp>
      </p:grpSp>
      <p:grpSp>
        <p:nvGrpSpPr>
          <p:cNvPr id="35" name="Group 35"/>
          <p:cNvGrpSpPr/>
          <p:nvPr/>
        </p:nvGrpSpPr>
        <p:grpSpPr>
          <a:xfrm>
            <a:off x="11405980" y="2470150"/>
            <a:ext cx="3874339" cy="2159770"/>
            <a:chOff x="0" y="0"/>
            <a:chExt cx="5363053" cy="2989661"/>
          </a:xfrm>
        </p:grpSpPr>
        <p:sp>
          <p:nvSpPr>
            <p:cNvPr id="36" name="Freeform 36"/>
            <p:cNvSpPr/>
            <p:nvPr/>
          </p:nvSpPr>
          <p:spPr>
            <a:xfrm>
              <a:off x="13208" y="3211"/>
              <a:ext cx="5336667" cy="2983298"/>
            </a:xfrm>
            <a:custGeom>
              <a:avLst/>
              <a:gdLst/>
              <a:ahLst/>
              <a:cxnLst/>
              <a:rect l="l" t="t" r="r" b="b"/>
              <a:pathLst>
                <a:path w="5336667" h="2983298">
                  <a:moveTo>
                    <a:pt x="5312283" y="2983298"/>
                  </a:moveTo>
                  <a:lnTo>
                    <a:pt x="0" y="44954"/>
                  </a:lnTo>
                  <a:lnTo>
                    <a:pt x="24384" y="0"/>
                  </a:lnTo>
                  <a:lnTo>
                    <a:pt x="5336667" y="2938215"/>
                  </a:lnTo>
                  <a:close/>
                </a:path>
              </a:pathLst>
            </a:custGeom>
            <a:solidFill>
              <a:srgbClr val="000000"/>
            </a:solidFill>
            <a:ln w="12700">
              <a:solidFill>
                <a:srgbClr val="000000"/>
              </a:solidFill>
            </a:ln>
          </p:spPr>
        </p:sp>
      </p:grpSp>
      <p:grpSp>
        <p:nvGrpSpPr>
          <p:cNvPr id="37" name="Group 37"/>
          <p:cNvGrpSpPr/>
          <p:nvPr/>
        </p:nvGrpSpPr>
        <p:grpSpPr>
          <a:xfrm>
            <a:off x="11176044" y="4710723"/>
            <a:ext cx="4037627" cy="519271"/>
            <a:chOff x="0" y="0"/>
            <a:chExt cx="5383503" cy="692361"/>
          </a:xfrm>
        </p:grpSpPr>
        <p:sp>
          <p:nvSpPr>
            <p:cNvPr id="38" name="Freeform 38"/>
            <p:cNvSpPr/>
            <p:nvPr/>
          </p:nvSpPr>
          <p:spPr>
            <a:xfrm>
              <a:off x="22352" y="127"/>
              <a:ext cx="5338826" cy="692023"/>
            </a:xfrm>
            <a:custGeom>
              <a:avLst/>
              <a:gdLst/>
              <a:ahLst/>
              <a:cxnLst/>
              <a:rect l="l" t="t" r="r" b="b"/>
              <a:pathLst>
                <a:path w="5338826" h="692023">
                  <a:moveTo>
                    <a:pt x="5338826" y="50546"/>
                  </a:moveTo>
                  <a:lnTo>
                    <a:pt x="6096" y="692023"/>
                  </a:lnTo>
                  <a:lnTo>
                    <a:pt x="0" y="641604"/>
                  </a:lnTo>
                  <a:lnTo>
                    <a:pt x="5332730" y="0"/>
                  </a:lnTo>
                  <a:close/>
                </a:path>
              </a:pathLst>
            </a:custGeom>
            <a:solidFill>
              <a:srgbClr val="000000"/>
            </a:solidFill>
            <a:ln w="12700">
              <a:solidFill>
                <a:srgbClr val="000000"/>
              </a:solidFill>
            </a:ln>
          </p:spPr>
        </p:sp>
      </p:grpSp>
      <p:grpSp>
        <p:nvGrpSpPr>
          <p:cNvPr id="39" name="Group 39"/>
          <p:cNvGrpSpPr/>
          <p:nvPr/>
        </p:nvGrpSpPr>
        <p:grpSpPr>
          <a:xfrm>
            <a:off x="11624446" y="4641635"/>
            <a:ext cx="3395103" cy="2073074"/>
            <a:chOff x="0" y="0"/>
            <a:chExt cx="4526804" cy="2764099"/>
          </a:xfrm>
        </p:grpSpPr>
        <p:sp>
          <p:nvSpPr>
            <p:cNvPr id="40" name="Freeform 40"/>
            <p:cNvSpPr/>
            <p:nvPr/>
          </p:nvSpPr>
          <p:spPr>
            <a:xfrm>
              <a:off x="12192" y="3683"/>
              <a:ext cx="4502404" cy="2756789"/>
            </a:xfrm>
            <a:custGeom>
              <a:avLst/>
              <a:gdLst/>
              <a:ahLst/>
              <a:cxnLst/>
              <a:rect l="l" t="t" r="r" b="b"/>
              <a:pathLst>
                <a:path w="4502404" h="2756789">
                  <a:moveTo>
                    <a:pt x="4502404" y="43434"/>
                  </a:moveTo>
                  <a:lnTo>
                    <a:pt x="26416" y="2756789"/>
                  </a:lnTo>
                  <a:lnTo>
                    <a:pt x="0" y="2713355"/>
                  </a:lnTo>
                  <a:lnTo>
                    <a:pt x="4475988" y="0"/>
                  </a:lnTo>
                  <a:close/>
                </a:path>
              </a:pathLst>
            </a:custGeom>
            <a:solidFill>
              <a:srgbClr val="000000"/>
            </a:solidFill>
            <a:ln w="12700">
              <a:solidFill>
                <a:srgbClr val="000000"/>
              </a:solidFill>
            </a:ln>
          </p:spPr>
        </p:sp>
      </p:grpSp>
      <p:grpSp>
        <p:nvGrpSpPr>
          <p:cNvPr id="41" name="Group 41"/>
          <p:cNvGrpSpPr/>
          <p:nvPr/>
        </p:nvGrpSpPr>
        <p:grpSpPr>
          <a:xfrm>
            <a:off x="11634378" y="4646999"/>
            <a:ext cx="3524880" cy="4490228"/>
            <a:chOff x="0" y="0"/>
            <a:chExt cx="4699840" cy="5986971"/>
          </a:xfrm>
        </p:grpSpPr>
        <p:sp>
          <p:nvSpPr>
            <p:cNvPr id="42" name="Freeform 42"/>
            <p:cNvSpPr/>
            <p:nvPr/>
          </p:nvSpPr>
          <p:spPr>
            <a:xfrm>
              <a:off x="5461" y="9779"/>
              <a:ext cx="4688967" cy="5967476"/>
            </a:xfrm>
            <a:custGeom>
              <a:avLst/>
              <a:gdLst/>
              <a:ahLst/>
              <a:cxnLst/>
              <a:rect l="l" t="t" r="r" b="b"/>
              <a:pathLst>
                <a:path w="4688967" h="5967476">
                  <a:moveTo>
                    <a:pt x="4688967" y="31242"/>
                  </a:moveTo>
                  <a:lnTo>
                    <a:pt x="39878" y="5967476"/>
                  </a:lnTo>
                  <a:lnTo>
                    <a:pt x="0" y="5936107"/>
                  </a:lnTo>
                  <a:lnTo>
                    <a:pt x="4648962" y="0"/>
                  </a:lnTo>
                  <a:close/>
                </a:path>
              </a:pathLst>
            </a:custGeom>
            <a:solidFill>
              <a:srgbClr val="000000"/>
            </a:solidFill>
            <a:ln w="12700">
              <a:solidFill>
                <a:srgbClr val="000000"/>
              </a:solidFill>
            </a:ln>
          </p:spPr>
        </p:sp>
      </p:grpSp>
      <p:sp>
        <p:nvSpPr>
          <p:cNvPr id="43" name="TextBox 43"/>
          <p:cNvSpPr txBox="1"/>
          <p:nvPr/>
        </p:nvSpPr>
        <p:spPr>
          <a:xfrm>
            <a:off x="8906707" y="387350"/>
            <a:ext cx="2972218" cy="847725"/>
          </a:xfrm>
          <a:prstGeom prst="rect">
            <a:avLst/>
          </a:prstGeom>
        </p:spPr>
        <p:txBody>
          <a:bodyPr lIns="0" tIns="0" rIns="0" bIns="0" rtlCol="0" anchor="t">
            <a:spAutoFit/>
          </a:bodyPr>
          <a:lstStyle/>
          <a:p>
            <a:pPr algn="ctr">
              <a:lnSpc>
                <a:spcPts val="6299"/>
              </a:lnSpc>
            </a:pPr>
            <a:r>
              <a:rPr lang="en-US" sz="4500" b="1">
                <a:solidFill>
                  <a:srgbClr val="800020"/>
                </a:solidFill>
                <a:latin typeface="Canva Sans Bold"/>
                <a:ea typeface="Canva Sans Bold"/>
                <a:cs typeface="Canva Sans Bold"/>
                <a:sym typeface="Canva Sans Bold"/>
              </a:rPr>
              <a:t>Customer</a:t>
            </a:r>
          </a:p>
        </p:txBody>
      </p:sp>
      <p:sp>
        <p:nvSpPr>
          <p:cNvPr id="44" name="TextBox 44"/>
          <p:cNvSpPr txBox="1"/>
          <p:nvPr/>
        </p:nvSpPr>
        <p:spPr>
          <a:xfrm>
            <a:off x="14667446" y="538163"/>
            <a:ext cx="2972218" cy="847725"/>
          </a:xfrm>
          <a:prstGeom prst="rect">
            <a:avLst/>
          </a:prstGeom>
        </p:spPr>
        <p:txBody>
          <a:bodyPr lIns="0" tIns="0" rIns="0" bIns="0" rtlCol="0" anchor="t">
            <a:spAutoFit/>
          </a:bodyPr>
          <a:lstStyle/>
          <a:p>
            <a:pPr algn="ctr">
              <a:lnSpc>
                <a:spcPts val="6299"/>
              </a:lnSpc>
            </a:pPr>
            <a:r>
              <a:rPr lang="en-US" sz="4500" b="1">
                <a:solidFill>
                  <a:srgbClr val="800020"/>
                </a:solidFill>
                <a:latin typeface="Canva Sans Bold"/>
                <a:ea typeface="Canva Sans Bold"/>
                <a:cs typeface="Canva Sans Bold"/>
                <a:sym typeface="Canva Sans Bold"/>
              </a:rPr>
              <a:t>Consumer</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E3B56F6A-B6D2-8721-87F1-8A370C94A817}"/>
              </a:ext>
            </a:extLst>
          </p:cNvPr>
          <p:cNvSpPr/>
          <p:nvPr/>
        </p:nvSpPr>
        <p:spPr>
          <a:xfrm rot="16200000">
            <a:off x="12336561" y="5412933"/>
            <a:ext cx="721402" cy="2694657"/>
          </a:xfrm>
          <a:prstGeom prst="rect">
            <a:avLst/>
          </a:prstGeom>
          <a:solidFill>
            <a:srgbClr val="EDEC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5" name="Rectangle 44">
            <a:extLst>
              <a:ext uri="{FF2B5EF4-FFF2-40B4-BE49-F238E27FC236}">
                <a16:creationId xmlns:a16="http://schemas.microsoft.com/office/drawing/2014/main" id="{70701CBF-A1CB-B060-CA13-3C1AFB317FE4}"/>
              </a:ext>
            </a:extLst>
          </p:cNvPr>
          <p:cNvSpPr/>
          <p:nvPr/>
        </p:nvSpPr>
        <p:spPr>
          <a:xfrm>
            <a:off x="8305800" y="7291439"/>
            <a:ext cx="9372599" cy="299556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Rectangle 43">
            <a:extLst>
              <a:ext uri="{FF2B5EF4-FFF2-40B4-BE49-F238E27FC236}">
                <a16:creationId xmlns:a16="http://schemas.microsoft.com/office/drawing/2014/main" id="{544E3A08-3154-3F40-3CE7-7BCC30771D96}"/>
              </a:ext>
            </a:extLst>
          </p:cNvPr>
          <p:cNvSpPr/>
          <p:nvPr/>
        </p:nvSpPr>
        <p:spPr>
          <a:xfrm>
            <a:off x="8915400" y="1230602"/>
            <a:ext cx="7696200" cy="299556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p:cNvGrpSpPr/>
          <p:nvPr/>
        </p:nvGrpSpPr>
        <p:grpSpPr>
          <a:xfrm>
            <a:off x="0" y="0"/>
            <a:ext cx="8086703" cy="10287000"/>
            <a:chOff x="0" y="0"/>
            <a:chExt cx="10782271" cy="13716000"/>
          </a:xfrm>
        </p:grpSpPr>
        <p:sp>
          <p:nvSpPr>
            <p:cNvPr id="3" name="Freeform 3"/>
            <p:cNvSpPr/>
            <p:nvPr/>
          </p:nvSpPr>
          <p:spPr>
            <a:xfrm>
              <a:off x="0" y="0"/>
              <a:ext cx="10782300" cy="13716000"/>
            </a:xfrm>
            <a:custGeom>
              <a:avLst/>
              <a:gdLst/>
              <a:ahLst/>
              <a:cxnLst/>
              <a:rect l="l" t="t" r="r" b="b"/>
              <a:pathLst>
                <a:path w="10782300" h="13716000">
                  <a:moveTo>
                    <a:pt x="0" y="0"/>
                  </a:moveTo>
                  <a:lnTo>
                    <a:pt x="10782300" y="0"/>
                  </a:lnTo>
                  <a:lnTo>
                    <a:pt x="10782300" y="13716000"/>
                  </a:lnTo>
                  <a:lnTo>
                    <a:pt x="0" y="13716000"/>
                  </a:lnTo>
                  <a:close/>
                </a:path>
              </a:pathLst>
            </a:custGeom>
            <a:solidFill>
              <a:srgbClr val="E8C7C8"/>
            </a:solidFill>
            <a:ln w="12700">
              <a:solidFill>
                <a:srgbClr val="000000"/>
              </a:solidFill>
            </a:ln>
          </p:spPr>
        </p:sp>
      </p:grpSp>
      <p:sp>
        <p:nvSpPr>
          <p:cNvPr id="4" name="Freeform 4"/>
          <p:cNvSpPr/>
          <p:nvPr/>
        </p:nvSpPr>
        <p:spPr>
          <a:xfrm>
            <a:off x="1028700" y="2259158"/>
            <a:ext cx="6080802" cy="449393"/>
          </a:xfrm>
          <a:custGeom>
            <a:avLst/>
            <a:gdLst/>
            <a:ahLst/>
            <a:cxnLst/>
            <a:rect l="l" t="t" r="r" b="b"/>
            <a:pathLst>
              <a:path w="6080802" h="449393">
                <a:moveTo>
                  <a:pt x="0" y="0"/>
                </a:moveTo>
                <a:lnTo>
                  <a:pt x="6080802" y="0"/>
                </a:lnTo>
                <a:lnTo>
                  <a:pt x="6080802" y="449393"/>
                </a:lnTo>
                <a:lnTo>
                  <a:pt x="0" y="449393"/>
                </a:lnTo>
                <a:lnTo>
                  <a:pt x="0" y="0"/>
                </a:lnTo>
                <a:close/>
              </a:path>
            </a:pathLst>
          </a:custGeom>
          <a:blipFill>
            <a:blip r:embed="rId2">
              <a:extLst>
                <a:ext uri="{96DAC541-7B7A-43D3-8B79-37D633B846F1}">
                  <asvg:svgBlip xmlns:asvg="http://schemas.microsoft.com/office/drawing/2016/SVG/main" r:embed="rId3"/>
                </a:ext>
              </a:extLst>
            </a:blip>
            <a:stretch>
              <a:fillRect t="-626557" b="-626557"/>
            </a:stretch>
          </a:blipFill>
        </p:spPr>
      </p:sp>
      <p:sp>
        <p:nvSpPr>
          <p:cNvPr id="13" name="TextBox 13"/>
          <p:cNvSpPr txBox="1"/>
          <p:nvPr/>
        </p:nvSpPr>
        <p:spPr>
          <a:xfrm>
            <a:off x="977201" y="794038"/>
            <a:ext cx="6132302" cy="873128"/>
          </a:xfrm>
          <a:prstGeom prst="rect">
            <a:avLst/>
          </a:prstGeom>
        </p:spPr>
        <p:txBody>
          <a:bodyPr lIns="0" tIns="0" rIns="0" bIns="0" rtlCol="0" anchor="t">
            <a:spAutoFit/>
          </a:bodyPr>
          <a:lstStyle/>
          <a:p>
            <a:pPr algn="l">
              <a:lnSpc>
                <a:spcPts val="7150"/>
              </a:lnSpc>
            </a:pPr>
            <a:r>
              <a:rPr lang="en-US" sz="6500">
                <a:solidFill>
                  <a:srgbClr val="800020"/>
                </a:solidFill>
                <a:latin typeface="Hammersmith One"/>
                <a:ea typeface="Hammersmith One"/>
                <a:cs typeface="Hammersmith One"/>
                <a:sym typeface="Hammersmith One"/>
              </a:rPr>
              <a:t> Customer Type</a:t>
            </a:r>
          </a:p>
        </p:txBody>
      </p:sp>
      <p:sp>
        <p:nvSpPr>
          <p:cNvPr id="14" name="TextBox 14"/>
          <p:cNvSpPr txBox="1"/>
          <p:nvPr/>
        </p:nvSpPr>
        <p:spPr>
          <a:xfrm>
            <a:off x="1028700" y="3299278"/>
            <a:ext cx="4812151" cy="2843086"/>
          </a:xfrm>
          <a:prstGeom prst="rect">
            <a:avLst/>
          </a:prstGeom>
        </p:spPr>
        <p:txBody>
          <a:bodyPr lIns="0" tIns="0" rIns="0" bIns="0" rtlCol="0" anchor="t">
            <a:spAutoFit/>
          </a:bodyPr>
          <a:lstStyle/>
          <a:p>
            <a:pPr algn="l">
              <a:lnSpc>
                <a:spcPts val="4468"/>
              </a:lnSpc>
            </a:pPr>
            <a:r>
              <a:rPr lang="en-US" sz="3192">
                <a:solidFill>
                  <a:srgbClr val="800020"/>
                </a:solidFill>
                <a:latin typeface="Canva Sans"/>
                <a:ea typeface="Canva Sans"/>
                <a:cs typeface="Canva Sans"/>
                <a:sym typeface="Canva Sans"/>
              </a:rPr>
              <a:t>AtliQ Hardware serves customers through offline retail stores and online e-commerce platforms</a:t>
            </a:r>
          </a:p>
        </p:txBody>
      </p:sp>
      <p:sp>
        <p:nvSpPr>
          <p:cNvPr id="37" name="TextBox 37"/>
          <p:cNvSpPr txBox="1"/>
          <p:nvPr/>
        </p:nvSpPr>
        <p:spPr>
          <a:xfrm>
            <a:off x="11051739" y="97777"/>
            <a:ext cx="3399135" cy="1008367"/>
          </a:xfrm>
          <a:prstGeom prst="rect">
            <a:avLst/>
          </a:prstGeom>
        </p:spPr>
        <p:txBody>
          <a:bodyPr lIns="0" tIns="0" rIns="0" bIns="0" rtlCol="0" anchor="t">
            <a:spAutoFit/>
          </a:bodyPr>
          <a:lstStyle/>
          <a:p>
            <a:pPr algn="ctr">
              <a:lnSpc>
                <a:spcPts val="7420"/>
              </a:lnSpc>
            </a:pPr>
            <a:r>
              <a:rPr lang="en-US" sz="5299" b="1" dirty="0">
                <a:solidFill>
                  <a:srgbClr val="800020"/>
                </a:solidFill>
                <a:latin typeface="Canva Sans Bold"/>
                <a:ea typeface="Canva Sans Bold"/>
                <a:cs typeface="Canva Sans Bold"/>
                <a:sym typeface="Canva Sans Bold"/>
              </a:rPr>
              <a:t> Platforms</a:t>
            </a:r>
          </a:p>
        </p:txBody>
      </p:sp>
      <p:sp>
        <p:nvSpPr>
          <p:cNvPr id="38" name="TextBox 38"/>
          <p:cNvSpPr txBox="1"/>
          <p:nvPr/>
        </p:nvSpPr>
        <p:spPr>
          <a:xfrm>
            <a:off x="11027956" y="6288135"/>
            <a:ext cx="3338612" cy="755650"/>
          </a:xfrm>
          <a:prstGeom prst="rect">
            <a:avLst/>
          </a:prstGeom>
        </p:spPr>
        <p:txBody>
          <a:bodyPr lIns="0" tIns="0" rIns="0" bIns="0" rtlCol="0" anchor="t">
            <a:spAutoFit/>
          </a:bodyPr>
          <a:lstStyle/>
          <a:p>
            <a:pPr algn="ctr">
              <a:lnSpc>
                <a:spcPts val="5598"/>
              </a:lnSpc>
            </a:pPr>
            <a:r>
              <a:rPr lang="en-US" sz="3999" b="1" dirty="0">
                <a:solidFill>
                  <a:srgbClr val="800020"/>
                </a:solidFill>
                <a:latin typeface="Canva Sans Bold"/>
                <a:ea typeface="Canva Sans Bold"/>
                <a:cs typeface="Canva Sans Bold"/>
                <a:sym typeface="Canva Sans Bold"/>
              </a:rPr>
              <a:t> E-Commerce</a:t>
            </a:r>
          </a:p>
        </p:txBody>
      </p:sp>
      <p:sp>
        <p:nvSpPr>
          <p:cNvPr id="39" name="TextBox 39"/>
          <p:cNvSpPr txBox="1"/>
          <p:nvPr/>
        </p:nvSpPr>
        <p:spPr>
          <a:xfrm>
            <a:off x="10730871" y="4673613"/>
            <a:ext cx="3687366" cy="755650"/>
          </a:xfrm>
          <a:prstGeom prst="rect">
            <a:avLst/>
          </a:prstGeom>
        </p:spPr>
        <p:txBody>
          <a:bodyPr lIns="0" tIns="0" rIns="0" bIns="0" rtlCol="0" anchor="t">
            <a:spAutoFit/>
          </a:bodyPr>
          <a:lstStyle/>
          <a:p>
            <a:pPr algn="ctr">
              <a:lnSpc>
                <a:spcPts val="5598"/>
              </a:lnSpc>
            </a:pPr>
            <a:r>
              <a:rPr lang="en-US" sz="3999" b="1" dirty="0">
                <a:solidFill>
                  <a:srgbClr val="800020"/>
                </a:solidFill>
                <a:latin typeface="Canva Sans Bold"/>
                <a:ea typeface="Canva Sans Bold"/>
                <a:cs typeface="Canva Sans Bold"/>
                <a:sym typeface="Canva Sans Bold"/>
              </a:rPr>
              <a:t> Brick &amp; Mortar</a:t>
            </a:r>
          </a:p>
        </p:txBody>
      </p:sp>
      <p:grpSp>
        <p:nvGrpSpPr>
          <p:cNvPr id="40" name="Group 40"/>
          <p:cNvGrpSpPr/>
          <p:nvPr/>
        </p:nvGrpSpPr>
        <p:grpSpPr>
          <a:xfrm>
            <a:off x="9917624" y="1990053"/>
            <a:ext cx="1837572" cy="1657898"/>
            <a:chOff x="0" y="0"/>
            <a:chExt cx="2450096" cy="2210531"/>
          </a:xfrm>
        </p:grpSpPr>
        <p:sp>
          <p:nvSpPr>
            <p:cNvPr id="41" name="Freeform 41"/>
            <p:cNvSpPr/>
            <p:nvPr/>
          </p:nvSpPr>
          <p:spPr>
            <a:xfrm>
              <a:off x="0" y="0"/>
              <a:ext cx="2450084" cy="2210562"/>
            </a:xfrm>
            <a:custGeom>
              <a:avLst/>
              <a:gdLst/>
              <a:ahLst/>
              <a:cxnLst/>
              <a:rect l="l" t="t" r="r" b="b"/>
              <a:pathLst>
                <a:path w="2450084" h="2210562">
                  <a:moveTo>
                    <a:pt x="0" y="0"/>
                  </a:moveTo>
                  <a:lnTo>
                    <a:pt x="2450084" y="0"/>
                  </a:lnTo>
                  <a:lnTo>
                    <a:pt x="2450084" y="2210562"/>
                  </a:lnTo>
                  <a:lnTo>
                    <a:pt x="0" y="2210562"/>
                  </a:lnTo>
                  <a:lnTo>
                    <a:pt x="0" y="0"/>
                  </a:lnTo>
                  <a:close/>
                </a:path>
              </a:pathLst>
            </a:custGeom>
            <a:blipFill>
              <a:blip r:embed="rId4"/>
              <a:stretch>
                <a:fillRect b="1"/>
              </a:stretch>
            </a:blipFill>
          </p:spPr>
        </p:sp>
      </p:grpSp>
      <p:grpSp>
        <p:nvGrpSpPr>
          <p:cNvPr id="42" name="Group 42"/>
          <p:cNvGrpSpPr>
            <a:grpSpLocks noChangeAspect="1"/>
          </p:cNvGrpSpPr>
          <p:nvPr/>
        </p:nvGrpSpPr>
        <p:grpSpPr>
          <a:xfrm>
            <a:off x="13276943" y="2113617"/>
            <a:ext cx="2581275" cy="1771650"/>
            <a:chOff x="0" y="0"/>
            <a:chExt cx="3441700" cy="2362200"/>
          </a:xfrm>
        </p:grpSpPr>
        <p:sp>
          <p:nvSpPr>
            <p:cNvPr id="43" name="Freeform 43"/>
            <p:cNvSpPr/>
            <p:nvPr/>
          </p:nvSpPr>
          <p:spPr>
            <a:xfrm>
              <a:off x="0" y="0"/>
              <a:ext cx="3441700" cy="2362200"/>
            </a:xfrm>
            <a:custGeom>
              <a:avLst/>
              <a:gdLst/>
              <a:ahLst/>
              <a:cxnLst/>
              <a:rect l="l" t="t" r="r" b="b"/>
              <a:pathLst>
                <a:path w="3441700" h="2362200">
                  <a:moveTo>
                    <a:pt x="0" y="0"/>
                  </a:moveTo>
                  <a:lnTo>
                    <a:pt x="3441700" y="0"/>
                  </a:lnTo>
                  <a:lnTo>
                    <a:pt x="3441700" y="2362200"/>
                  </a:lnTo>
                  <a:lnTo>
                    <a:pt x="0" y="2362200"/>
                  </a:lnTo>
                  <a:lnTo>
                    <a:pt x="0" y="0"/>
                  </a:lnTo>
                  <a:close/>
                </a:path>
              </a:pathLst>
            </a:custGeom>
            <a:blipFill>
              <a:blip r:embed="rId5"/>
              <a:stretch>
                <a:fillRect/>
              </a:stretch>
            </a:blipFill>
          </p:spPr>
        </p:sp>
      </p:grpSp>
      <p:sp>
        <p:nvSpPr>
          <p:cNvPr id="59" name="Rectangle: Rounded Corners 58">
            <a:extLst>
              <a:ext uri="{FF2B5EF4-FFF2-40B4-BE49-F238E27FC236}">
                <a16:creationId xmlns:a16="http://schemas.microsoft.com/office/drawing/2014/main" id="{8466CB21-5FAF-A70D-D0A5-B855C24BC0F9}"/>
              </a:ext>
            </a:extLst>
          </p:cNvPr>
          <p:cNvSpPr/>
          <p:nvPr/>
        </p:nvSpPr>
        <p:spPr>
          <a:xfrm>
            <a:off x="10240506" y="4460638"/>
            <a:ext cx="4999494" cy="98217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Rectangle: Rounded Corners 59">
            <a:extLst>
              <a:ext uri="{FF2B5EF4-FFF2-40B4-BE49-F238E27FC236}">
                <a16:creationId xmlns:a16="http://schemas.microsoft.com/office/drawing/2014/main" id="{B93192FA-3EFA-9646-698B-BA46F64DF17D}"/>
              </a:ext>
            </a:extLst>
          </p:cNvPr>
          <p:cNvSpPr/>
          <p:nvPr/>
        </p:nvSpPr>
        <p:spPr>
          <a:xfrm>
            <a:off x="10240506" y="6171366"/>
            <a:ext cx="5029199" cy="98217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Rectangle: Rounded Corners 60">
            <a:extLst>
              <a:ext uri="{FF2B5EF4-FFF2-40B4-BE49-F238E27FC236}">
                <a16:creationId xmlns:a16="http://schemas.microsoft.com/office/drawing/2014/main" id="{6170A5B4-43AD-5CA7-0B80-404C6BE0657B}"/>
              </a:ext>
            </a:extLst>
          </p:cNvPr>
          <p:cNvSpPr/>
          <p:nvPr/>
        </p:nvSpPr>
        <p:spPr>
          <a:xfrm>
            <a:off x="10312618" y="72099"/>
            <a:ext cx="4999494" cy="104707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Online Shopping site in India: Shop Online for Mobiles, Books, Watches,  Shoes and More - Amazon.in">
            <a:extLst>
              <a:ext uri="{FF2B5EF4-FFF2-40B4-BE49-F238E27FC236}">
                <a16:creationId xmlns:a16="http://schemas.microsoft.com/office/drawing/2014/main" id="{041697ED-CF53-B63E-2ECF-A409DDFDAA6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194882" y="16095322"/>
            <a:ext cx="1800000" cy="3747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lipkart promotes sustainable shopping, expands 'Flipkart Green' store -  FashionNetwork India">
            <a:extLst>
              <a:ext uri="{FF2B5EF4-FFF2-40B4-BE49-F238E27FC236}">
                <a16:creationId xmlns:a16="http://schemas.microsoft.com/office/drawing/2014/main" id="{5C3E7B92-20DD-7292-A738-AE8AA6CAC8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74554" y="7529219"/>
            <a:ext cx="4615559" cy="252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Online Shopping site in India: Shop Online for Mobiles, Books, Watches,  Shoes and More - Amazon.in">
            <a:extLst>
              <a:ext uri="{FF2B5EF4-FFF2-40B4-BE49-F238E27FC236}">
                <a16:creationId xmlns:a16="http://schemas.microsoft.com/office/drawing/2014/main" id="{0B64226A-1E8A-3CB4-7511-9B13CA256C5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32997" y="7479238"/>
            <a:ext cx="2520000" cy="252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Freeform 2"/>
          <p:cNvSpPr/>
          <p:nvPr/>
        </p:nvSpPr>
        <p:spPr>
          <a:xfrm rot="5400000">
            <a:off x="-4763377" y="4763377"/>
            <a:ext cx="10287000" cy="760245"/>
          </a:xfrm>
          <a:custGeom>
            <a:avLst/>
            <a:gdLst/>
            <a:ahLst/>
            <a:cxnLst/>
            <a:rect l="l" t="t" r="r" b="b"/>
            <a:pathLst>
              <a:path w="10287000" h="760245">
                <a:moveTo>
                  <a:pt x="0" y="0"/>
                </a:moveTo>
                <a:lnTo>
                  <a:pt x="10287000" y="0"/>
                </a:lnTo>
                <a:lnTo>
                  <a:pt x="10287000" y="760245"/>
                </a:lnTo>
                <a:lnTo>
                  <a:pt x="0" y="760245"/>
                </a:lnTo>
                <a:lnTo>
                  <a:pt x="0" y="0"/>
                </a:lnTo>
                <a:close/>
              </a:path>
            </a:pathLst>
          </a:custGeom>
          <a:blipFill>
            <a:blip r:embed="rId2">
              <a:extLst>
                <a:ext uri="{96DAC541-7B7A-43D3-8B79-37D633B846F1}">
                  <asvg:svgBlip xmlns:asvg="http://schemas.microsoft.com/office/drawing/2016/SVG/main" r:embed="rId3"/>
                </a:ext>
              </a:extLst>
            </a:blip>
            <a:stretch>
              <a:fillRect t="-626558" b="-626558"/>
            </a:stretch>
          </a:blipFill>
        </p:spPr>
      </p:sp>
      <p:sp>
        <p:nvSpPr>
          <p:cNvPr id="3" name="Freeform 3"/>
          <p:cNvSpPr/>
          <p:nvPr/>
        </p:nvSpPr>
        <p:spPr>
          <a:xfrm>
            <a:off x="8157869" y="1684613"/>
            <a:ext cx="1163180" cy="1271867"/>
          </a:xfrm>
          <a:custGeom>
            <a:avLst/>
            <a:gdLst/>
            <a:ahLst/>
            <a:cxnLst/>
            <a:rect l="l" t="t" r="r" b="b"/>
            <a:pathLst>
              <a:path w="1163180" h="1271867">
                <a:moveTo>
                  <a:pt x="0" y="0"/>
                </a:moveTo>
                <a:lnTo>
                  <a:pt x="1163180" y="0"/>
                </a:lnTo>
                <a:lnTo>
                  <a:pt x="1163180" y="1271867"/>
                </a:lnTo>
                <a:lnTo>
                  <a:pt x="0" y="1271867"/>
                </a:lnTo>
                <a:lnTo>
                  <a:pt x="0" y="0"/>
                </a:lnTo>
                <a:close/>
              </a:path>
            </a:pathLst>
          </a:custGeom>
          <a:blipFill>
            <a:blip r:embed="rId4">
              <a:extLst>
                <a:ext uri="{96DAC541-7B7A-43D3-8B79-37D633B846F1}">
                  <asvg:svgBlip xmlns:asvg="http://schemas.microsoft.com/office/drawing/2016/SVG/main" r:embed="rId5"/>
                </a:ext>
              </a:extLst>
            </a:blip>
            <a:stretch>
              <a:fillRect t="-188" b="-188"/>
            </a:stretch>
          </a:blipFill>
        </p:spPr>
      </p:sp>
      <p:sp>
        <p:nvSpPr>
          <p:cNvPr id="4" name="Freeform 4"/>
          <p:cNvSpPr/>
          <p:nvPr/>
        </p:nvSpPr>
        <p:spPr>
          <a:xfrm>
            <a:off x="12185925" y="1684613"/>
            <a:ext cx="807057" cy="1271867"/>
          </a:xfrm>
          <a:custGeom>
            <a:avLst/>
            <a:gdLst/>
            <a:ahLst/>
            <a:cxnLst/>
            <a:rect l="l" t="t" r="r" b="b"/>
            <a:pathLst>
              <a:path w="807057" h="1271867">
                <a:moveTo>
                  <a:pt x="0" y="0"/>
                </a:moveTo>
                <a:lnTo>
                  <a:pt x="807057" y="0"/>
                </a:lnTo>
                <a:lnTo>
                  <a:pt x="807057" y="1271867"/>
                </a:lnTo>
                <a:lnTo>
                  <a:pt x="0" y="1271867"/>
                </a:lnTo>
                <a:lnTo>
                  <a:pt x="0" y="0"/>
                </a:lnTo>
                <a:close/>
              </a:path>
            </a:pathLst>
          </a:custGeom>
          <a:blipFill>
            <a:blip r:embed="rId6">
              <a:extLst>
                <a:ext uri="{96DAC541-7B7A-43D3-8B79-37D633B846F1}">
                  <asvg:svgBlip xmlns:asvg="http://schemas.microsoft.com/office/drawing/2016/SVG/main" r:embed="rId7"/>
                </a:ext>
              </a:extLst>
            </a:blip>
            <a:stretch>
              <a:fillRect t="-17" b="-17"/>
            </a:stretch>
          </a:blipFill>
        </p:spPr>
      </p:sp>
      <p:sp>
        <p:nvSpPr>
          <p:cNvPr id="5" name="Freeform 5"/>
          <p:cNvSpPr/>
          <p:nvPr/>
        </p:nvSpPr>
        <p:spPr>
          <a:xfrm>
            <a:off x="10253740" y="1684613"/>
            <a:ext cx="885682" cy="1271867"/>
          </a:xfrm>
          <a:custGeom>
            <a:avLst/>
            <a:gdLst/>
            <a:ahLst/>
            <a:cxnLst/>
            <a:rect l="l" t="t" r="r" b="b"/>
            <a:pathLst>
              <a:path w="885682" h="1271867">
                <a:moveTo>
                  <a:pt x="0" y="0"/>
                </a:moveTo>
                <a:lnTo>
                  <a:pt x="885682" y="0"/>
                </a:lnTo>
                <a:lnTo>
                  <a:pt x="885682" y="1271867"/>
                </a:lnTo>
                <a:lnTo>
                  <a:pt x="0" y="1271867"/>
                </a:lnTo>
                <a:lnTo>
                  <a:pt x="0" y="0"/>
                </a:lnTo>
                <a:close/>
              </a:path>
            </a:pathLst>
          </a:custGeom>
          <a:blipFill>
            <a:blip r:embed="rId8">
              <a:extLst>
                <a:ext uri="{96DAC541-7B7A-43D3-8B79-37D633B846F1}">
                  <asvg:svgBlip xmlns:asvg="http://schemas.microsoft.com/office/drawing/2016/SVG/main" r:embed="rId9"/>
                </a:ext>
              </a:extLst>
            </a:blip>
            <a:stretch>
              <a:fillRect l="-368" r="-368"/>
            </a:stretch>
          </a:blipFill>
        </p:spPr>
      </p:sp>
      <p:sp>
        <p:nvSpPr>
          <p:cNvPr id="6" name="Freeform 6"/>
          <p:cNvSpPr/>
          <p:nvPr/>
        </p:nvSpPr>
        <p:spPr>
          <a:xfrm>
            <a:off x="15813141" y="1684613"/>
            <a:ext cx="794017" cy="1128447"/>
          </a:xfrm>
          <a:custGeom>
            <a:avLst/>
            <a:gdLst/>
            <a:ahLst/>
            <a:cxnLst/>
            <a:rect l="l" t="t" r="r" b="b"/>
            <a:pathLst>
              <a:path w="794017" h="1128447">
                <a:moveTo>
                  <a:pt x="0" y="0"/>
                </a:moveTo>
                <a:lnTo>
                  <a:pt x="794017" y="0"/>
                </a:lnTo>
                <a:lnTo>
                  <a:pt x="794017" y="1128447"/>
                </a:lnTo>
                <a:lnTo>
                  <a:pt x="0" y="1128447"/>
                </a:lnTo>
                <a:lnTo>
                  <a:pt x="0" y="0"/>
                </a:lnTo>
                <a:close/>
              </a:path>
            </a:pathLst>
          </a:custGeom>
          <a:blipFill>
            <a:blip r:embed="rId10">
              <a:extLst>
                <a:ext uri="{96DAC541-7B7A-43D3-8B79-37D633B846F1}">
                  <asvg:svgBlip xmlns:asvg="http://schemas.microsoft.com/office/drawing/2016/SVG/main" r:embed="rId11"/>
                </a:ext>
              </a:extLst>
            </a:blip>
            <a:stretch>
              <a:fillRect t="-259" b="-259"/>
            </a:stretch>
          </a:blipFill>
        </p:spPr>
      </p:sp>
      <p:sp>
        <p:nvSpPr>
          <p:cNvPr id="7" name="Freeform 7"/>
          <p:cNvSpPr/>
          <p:nvPr/>
        </p:nvSpPr>
        <p:spPr>
          <a:xfrm>
            <a:off x="12095757" y="3697047"/>
            <a:ext cx="987392" cy="1042353"/>
          </a:xfrm>
          <a:custGeom>
            <a:avLst/>
            <a:gdLst/>
            <a:ahLst/>
            <a:cxnLst/>
            <a:rect l="l" t="t" r="r" b="b"/>
            <a:pathLst>
              <a:path w="987392" h="1042353">
                <a:moveTo>
                  <a:pt x="0" y="0"/>
                </a:moveTo>
                <a:lnTo>
                  <a:pt x="987392" y="0"/>
                </a:lnTo>
                <a:lnTo>
                  <a:pt x="987392" y="1042353"/>
                </a:lnTo>
                <a:lnTo>
                  <a:pt x="0" y="1042353"/>
                </a:lnTo>
                <a:lnTo>
                  <a:pt x="0" y="0"/>
                </a:lnTo>
                <a:close/>
              </a:path>
            </a:pathLst>
          </a:custGeom>
          <a:blipFill>
            <a:blip r:embed="rId12">
              <a:extLst>
                <a:ext uri="{96DAC541-7B7A-43D3-8B79-37D633B846F1}">
                  <asvg:svgBlip xmlns:asvg="http://schemas.microsoft.com/office/drawing/2016/SVG/main" r:embed="rId13"/>
                </a:ext>
              </a:extLst>
            </a:blip>
            <a:stretch>
              <a:fillRect t="-96" b="-96"/>
            </a:stretch>
          </a:blipFill>
        </p:spPr>
      </p:sp>
      <p:sp>
        <p:nvSpPr>
          <p:cNvPr id="8" name="Freeform 8"/>
          <p:cNvSpPr/>
          <p:nvPr/>
        </p:nvSpPr>
        <p:spPr>
          <a:xfrm>
            <a:off x="10167072" y="5804679"/>
            <a:ext cx="1059018" cy="966595"/>
          </a:xfrm>
          <a:custGeom>
            <a:avLst/>
            <a:gdLst/>
            <a:ahLst/>
            <a:cxnLst/>
            <a:rect l="l" t="t" r="r" b="b"/>
            <a:pathLst>
              <a:path w="1059018" h="966595">
                <a:moveTo>
                  <a:pt x="0" y="0"/>
                </a:moveTo>
                <a:lnTo>
                  <a:pt x="1059018" y="0"/>
                </a:lnTo>
                <a:lnTo>
                  <a:pt x="1059018" y="966595"/>
                </a:lnTo>
                <a:lnTo>
                  <a:pt x="0" y="966595"/>
                </a:lnTo>
                <a:lnTo>
                  <a:pt x="0" y="0"/>
                </a:lnTo>
                <a:close/>
              </a:path>
            </a:pathLst>
          </a:custGeom>
          <a:blipFill>
            <a:blip r:embed="rId14">
              <a:extLst>
                <a:ext uri="{96DAC541-7B7A-43D3-8B79-37D633B846F1}">
                  <asvg:svgBlip xmlns:asvg="http://schemas.microsoft.com/office/drawing/2016/SVG/main" r:embed="rId15"/>
                </a:ext>
              </a:extLst>
            </a:blip>
            <a:stretch>
              <a:fillRect l="-110" r="-110"/>
            </a:stretch>
          </a:blipFill>
        </p:spPr>
      </p:sp>
      <p:sp>
        <p:nvSpPr>
          <p:cNvPr id="9" name="Freeform 9"/>
          <p:cNvSpPr/>
          <p:nvPr/>
        </p:nvSpPr>
        <p:spPr>
          <a:xfrm>
            <a:off x="8327048" y="5758009"/>
            <a:ext cx="824822" cy="1059935"/>
          </a:xfrm>
          <a:custGeom>
            <a:avLst/>
            <a:gdLst/>
            <a:ahLst/>
            <a:cxnLst/>
            <a:rect l="l" t="t" r="r" b="b"/>
            <a:pathLst>
              <a:path w="824822" h="1059935">
                <a:moveTo>
                  <a:pt x="0" y="0"/>
                </a:moveTo>
                <a:lnTo>
                  <a:pt x="824822" y="0"/>
                </a:lnTo>
                <a:lnTo>
                  <a:pt x="824822" y="1059935"/>
                </a:lnTo>
                <a:lnTo>
                  <a:pt x="0" y="1059935"/>
                </a:lnTo>
                <a:lnTo>
                  <a:pt x="0" y="0"/>
                </a:lnTo>
                <a:close/>
              </a:path>
            </a:pathLst>
          </a:custGeom>
          <a:blipFill>
            <a:blip r:embed="rId16">
              <a:extLst>
                <a:ext uri="{96DAC541-7B7A-43D3-8B79-37D633B846F1}">
                  <asvg:svgBlip xmlns:asvg="http://schemas.microsoft.com/office/drawing/2016/SVG/main" r:embed="rId17"/>
                </a:ext>
              </a:extLst>
            </a:blip>
            <a:stretch>
              <a:fillRect t="-89" b="-89"/>
            </a:stretch>
          </a:blipFill>
        </p:spPr>
      </p:sp>
      <p:sp>
        <p:nvSpPr>
          <p:cNvPr id="10" name="Freeform 10"/>
          <p:cNvSpPr/>
          <p:nvPr/>
        </p:nvSpPr>
        <p:spPr>
          <a:xfrm>
            <a:off x="13962952" y="3697047"/>
            <a:ext cx="792469" cy="975074"/>
          </a:xfrm>
          <a:custGeom>
            <a:avLst/>
            <a:gdLst/>
            <a:ahLst/>
            <a:cxnLst/>
            <a:rect l="l" t="t" r="r" b="b"/>
            <a:pathLst>
              <a:path w="792469" h="975074">
                <a:moveTo>
                  <a:pt x="0" y="0"/>
                </a:moveTo>
                <a:lnTo>
                  <a:pt x="792469" y="0"/>
                </a:lnTo>
                <a:lnTo>
                  <a:pt x="792469" y="975074"/>
                </a:lnTo>
                <a:lnTo>
                  <a:pt x="0" y="975074"/>
                </a:lnTo>
                <a:lnTo>
                  <a:pt x="0" y="0"/>
                </a:lnTo>
                <a:close/>
              </a:path>
            </a:pathLst>
          </a:custGeom>
          <a:blipFill>
            <a:blip r:embed="rId18">
              <a:extLst>
                <a:ext uri="{96DAC541-7B7A-43D3-8B79-37D633B846F1}">
                  <asvg:svgBlip xmlns:asvg="http://schemas.microsoft.com/office/drawing/2016/SVG/main" r:embed="rId19"/>
                </a:ext>
              </a:extLst>
            </a:blip>
            <a:stretch>
              <a:fillRect l="-172" r="-172"/>
            </a:stretch>
          </a:blipFill>
        </p:spPr>
      </p:sp>
      <p:sp>
        <p:nvSpPr>
          <p:cNvPr id="11" name="Freeform 11"/>
          <p:cNvSpPr/>
          <p:nvPr/>
        </p:nvSpPr>
        <p:spPr>
          <a:xfrm>
            <a:off x="10230693" y="7647093"/>
            <a:ext cx="931775" cy="847068"/>
          </a:xfrm>
          <a:custGeom>
            <a:avLst/>
            <a:gdLst/>
            <a:ahLst/>
            <a:cxnLst/>
            <a:rect l="l" t="t" r="r" b="b"/>
            <a:pathLst>
              <a:path w="931775" h="847068">
                <a:moveTo>
                  <a:pt x="0" y="0"/>
                </a:moveTo>
                <a:lnTo>
                  <a:pt x="931775" y="0"/>
                </a:lnTo>
                <a:lnTo>
                  <a:pt x="931775" y="847068"/>
                </a:lnTo>
                <a:lnTo>
                  <a:pt x="0" y="847068"/>
                </a:lnTo>
                <a:lnTo>
                  <a:pt x="0" y="0"/>
                </a:lnTo>
                <a:close/>
              </a:path>
            </a:pathLst>
          </a:custGeom>
          <a:blipFill>
            <a:blip r:embed="rId20">
              <a:extLst>
                <a:ext uri="{96DAC541-7B7A-43D3-8B79-37D633B846F1}">
                  <asvg:svgBlip xmlns:asvg="http://schemas.microsoft.com/office/drawing/2016/SVG/main" r:embed="rId21"/>
                </a:ext>
              </a:extLst>
            </a:blip>
            <a:stretch>
              <a:fillRect l="-561" r="-561"/>
            </a:stretch>
          </a:blipFill>
        </p:spPr>
      </p:sp>
      <p:sp>
        <p:nvSpPr>
          <p:cNvPr id="12" name="Freeform 12"/>
          <p:cNvSpPr/>
          <p:nvPr/>
        </p:nvSpPr>
        <p:spPr>
          <a:xfrm>
            <a:off x="12147435" y="5735797"/>
            <a:ext cx="884037" cy="847068"/>
          </a:xfrm>
          <a:custGeom>
            <a:avLst/>
            <a:gdLst/>
            <a:ahLst/>
            <a:cxnLst/>
            <a:rect l="l" t="t" r="r" b="b"/>
            <a:pathLst>
              <a:path w="884037" h="847068">
                <a:moveTo>
                  <a:pt x="0" y="0"/>
                </a:moveTo>
                <a:lnTo>
                  <a:pt x="884037" y="0"/>
                </a:lnTo>
                <a:lnTo>
                  <a:pt x="884037" y="847068"/>
                </a:lnTo>
                <a:lnTo>
                  <a:pt x="0" y="847068"/>
                </a:lnTo>
                <a:lnTo>
                  <a:pt x="0" y="0"/>
                </a:lnTo>
                <a:close/>
              </a:path>
            </a:pathLst>
          </a:custGeom>
          <a:blipFill>
            <a:blip r:embed="rId22">
              <a:extLst>
                <a:ext uri="{96DAC541-7B7A-43D3-8B79-37D633B846F1}">
                  <asvg:svgBlip xmlns:asvg="http://schemas.microsoft.com/office/drawing/2016/SVG/main" r:embed="rId23"/>
                </a:ext>
              </a:extLst>
            </a:blip>
            <a:stretch>
              <a:fillRect l="-600" r="-600"/>
            </a:stretch>
          </a:blipFill>
        </p:spPr>
      </p:sp>
      <p:sp>
        <p:nvSpPr>
          <p:cNvPr id="13" name="Freeform 13"/>
          <p:cNvSpPr/>
          <p:nvPr/>
        </p:nvSpPr>
        <p:spPr>
          <a:xfrm>
            <a:off x="15701195" y="5903003"/>
            <a:ext cx="1017909" cy="512656"/>
          </a:xfrm>
          <a:custGeom>
            <a:avLst/>
            <a:gdLst/>
            <a:ahLst/>
            <a:cxnLst/>
            <a:rect l="l" t="t" r="r" b="b"/>
            <a:pathLst>
              <a:path w="1017909" h="512656">
                <a:moveTo>
                  <a:pt x="0" y="0"/>
                </a:moveTo>
                <a:lnTo>
                  <a:pt x="1017909" y="0"/>
                </a:lnTo>
                <a:lnTo>
                  <a:pt x="1017909" y="512656"/>
                </a:lnTo>
                <a:lnTo>
                  <a:pt x="0" y="512656"/>
                </a:lnTo>
                <a:lnTo>
                  <a:pt x="0" y="0"/>
                </a:lnTo>
                <a:close/>
              </a:path>
            </a:pathLst>
          </a:custGeom>
          <a:blipFill>
            <a:blip r:embed="rId24">
              <a:extLst>
                <a:ext uri="{96DAC541-7B7A-43D3-8B79-37D633B846F1}">
                  <asvg:svgBlip xmlns:asvg="http://schemas.microsoft.com/office/drawing/2016/SVG/main" r:embed="rId25"/>
                </a:ext>
              </a:extLst>
            </a:blip>
            <a:stretch>
              <a:fillRect t="-1030" b="-1030"/>
            </a:stretch>
          </a:blipFill>
        </p:spPr>
      </p:sp>
      <p:sp>
        <p:nvSpPr>
          <p:cNvPr id="14" name="Freeform 14"/>
          <p:cNvSpPr/>
          <p:nvPr/>
        </p:nvSpPr>
        <p:spPr>
          <a:xfrm>
            <a:off x="13835750" y="5633985"/>
            <a:ext cx="1046872" cy="1050693"/>
          </a:xfrm>
          <a:custGeom>
            <a:avLst/>
            <a:gdLst/>
            <a:ahLst/>
            <a:cxnLst/>
            <a:rect l="l" t="t" r="r" b="b"/>
            <a:pathLst>
              <a:path w="1046872" h="1050693">
                <a:moveTo>
                  <a:pt x="0" y="0"/>
                </a:moveTo>
                <a:lnTo>
                  <a:pt x="1046872" y="0"/>
                </a:lnTo>
                <a:lnTo>
                  <a:pt x="1046872" y="1050693"/>
                </a:lnTo>
                <a:lnTo>
                  <a:pt x="0" y="1050693"/>
                </a:lnTo>
                <a:lnTo>
                  <a:pt x="0" y="0"/>
                </a:lnTo>
                <a:close/>
              </a:path>
            </a:pathLst>
          </a:custGeom>
          <a:blipFill>
            <a:blip r:embed="rId26">
              <a:extLst>
                <a:ext uri="{96DAC541-7B7A-43D3-8B79-37D633B846F1}">
                  <asvg:svgBlip xmlns:asvg="http://schemas.microsoft.com/office/drawing/2016/SVG/main" r:embed="rId27"/>
                </a:ext>
              </a:extLst>
            </a:blip>
            <a:stretch>
              <a:fillRect l="-182" r="-182"/>
            </a:stretch>
          </a:blipFill>
        </p:spPr>
      </p:sp>
      <p:sp>
        <p:nvSpPr>
          <p:cNvPr id="15" name="Freeform 15"/>
          <p:cNvSpPr/>
          <p:nvPr/>
        </p:nvSpPr>
        <p:spPr>
          <a:xfrm>
            <a:off x="8290847" y="7538866"/>
            <a:ext cx="897225" cy="1063521"/>
          </a:xfrm>
          <a:custGeom>
            <a:avLst/>
            <a:gdLst/>
            <a:ahLst/>
            <a:cxnLst/>
            <a:rect l="l" t="t" r="r" b="b"/>
            <a:pathLst>
              <a:path w="897225" h="1063521">
                <a:moveTo>
                  <a:pt x="0" y="0"/>
                </a:moveTo>
                <a:lnTo>
                  <a:pt x="897225" y="0"/>
                </a:lnTo>
                <a:lnTo>
                  <a:pt x="897225" y="1063521"/>
                </a:lnTo>
                <a:lnTo>
                  <a:pt x="0" y="1063521"/>
                </a:lnTo>
                <a:lnTo>
                  <a:pt x="0" y="0"/>
                </a:lnTo>
                <a:close/>
              </a:path>
            </a:pathLst>
          </a:custGeom>
          <a:blipFill>
            <a:blip r:embed="rId28">
              <a:extLst>
                <a:ext uri="{96DAC541-7B7A-43D3-8B79-37D633B846F1}">
                  <asvg:svgBlip xmlns:asvg="http://schemas.microsoft.com/office/drawing/2016/SVG/main" r:embed="rId29"/>
                </a:ext>
              </a:extLst>
            </a:blip>
            <a:stretch>
              <a:fillRect l="-271" r="-271"/>
            </a:stretch>
          </a:blipFill>
        </p:spPr>
      </p:sp>
      <p:sp>
        <p:nvSpPr>
          <p:cNvPr id="16" name="Freeform 16"/>
          <p:cNvSpPr/>
          <p:nvPr/>
        </p:nvSpPr>
        <p:spPr>
          <a:xfrm>
            <a:off x="11947217" y="7807552"/>
            <a:ext cx="1284473" cy="686609"/>
          </a:xfrm>
          <a:custGeom>
            <a:avLst/>
            <a:gdLst/>
            <a:ahLst/>
            <a:cxnLst/>
            <a:rect l="l" t="t" r="r" b="b"/>
            <a:pathLst>
              <a:path w="1284473" h="686609">
                <a:moveTo>
                  <a:pt x="0" y="0"/>
                </a:moveTo>
                <a:lnTo>
                  <a:pt x="1284473" y="0"/>
                </a:lnTo>
                <a:lnTo>
                  <a:pt x="1284473" y="686609"/>
                </a:lnTo>
                <a:lnTo>
                  <a:pt x="0" y="686609"/>
                </a:lnTo>
                <a:lnTo>
                  <a:pt x="0" y="0"/>
                </a:lnTo>
                <a:close/>
              </a:path>
            </a:pathLst>
          </a:custGeom>
          <a:blipFill>
            <a:blip r:embed="rId30">
              <a:extLst>
                <a:ext uri="{96DAC541-7B7A-43D3-8B79-37D633B846F1}">
                  <asvg:svgBlip xmlns:asvg="http://schemas.microsoft.com/office/drawing/2016/SVG/main" r:embed="rId31"/>
                </a:ext>
              </a:extLst>
            </a:blip>
            <a:stretch>
              <a:fillRect t="-207" b="-207"/>
            </a:stretch>
          </a:blipFill>
        </p:spPr>
      </p:sp>
      <p:sp>
        <p:nvSpPr>
          <p:cNvPr id="17" name="Freeform 17"/>
          <p:cNvSpPr/>
          <p:nvPr/>
        </p:nvSpPr>
        <p:spPr>
          <a:xfrm>
            <a:off x="13941086" y="7596187"/>
            <a:ext cx="836201" cy="948881"/>
          </a:xfrm>
          <a:custGeom>
            <a:avLst/>
            <a:gdLst/>
            <a:ahLst/>
            <a:cxnLst/>
            <a:rect l="l" t="t" r="r" b="b"/>
            <a:pathLst>
              <a:path w="836201" h="948881">
                <a:moveTo>
                  <a:pt x="0" y="0"/>
                </a:moveTo>
                <a:lnTo>
                  <a:pt x="836201" y="0"/>
                </a:lnTo>
                <a:lnTo>
                  <a:pt x="836201" y="948881"/>
                </a:lnTo>
                <a:lnTo>
                  <a:pt x="0" y="948881"/>
                </a:lnTo>
                <a:lnTo>
                  <a:pt x="0" y="0"/>
                </a:lnTo>
                <a:close/>
              </a:path>
            </a:pathLst>
          </a:custGeom>
          <a:blipFill>
            <a:blip r:embed="rId32">
              <a:extLst>
                <a:ext uri="{96DAC541-7B7A-43D3-8B79-37D633B846F1}">
                  <asvg:svgBlip xmlns:asvg="http://schemas.microsoft.com/office/drawing/2016/SVG/main" r:embed="rId33"/>
                </a:ext>
              </a:extLst>
            </a:blip>
            <a:stretch>
              <a:fillRect t="-70" b="-70"/>
            </a:stretch>
          </a:blipFill>
        </p:spPr>
      </p:sp>
      <p:sp>
        <p:nvSpPr>
          <p:cNvPr id="18" name="Freeform 18"/>
          <p:cNvSpPr/>
          <p:nvPr/>
        </p:nvSpPr>
        <p:spPr>
          <a:xfrm>
            <a:off x="15607613" y="7589773"/>
            <a:ext cx="1205073" cy="955295"/>
          </a:xfrm>
          <a:custGeom>
            <a:avLst/>
            <a:gdLst/>
            <a:ahLst/>
            <a:cxnLst/>
            <a:rect l="l" t="t" r="r" b="b"/>
            <a:pathLst>
              <a:path w="1205073" h="955295">
                <a:moveTo>
                  <a:pt x="0" y="0"/>
                </a:moveTo>
                <a:lnTo>
                  <a:pt x="1205073" y="0"/>
                </a:lnTo>
                <a:lnTo>
                  <a:pt x="1205073" y="955295"/>
                </a:lnTo>
                <a:lnTo>
                  <a:pt x="0" y="955295"/>
                </a:lnTo>
                <a:lnTo>
                  <a:pt x="0" y="0"/>
                </a:lnTo>
                <a:close/>
              </a:path>
            </a:pathLst>
          </a:custGeom>
          <a:blipFill>
            <a:blip r:embed="rId34">
              <a:extLst>
                <a:ext uri="{96DAC541-7B7A-43D3-8B79-37D633B846F1}">
                  <asvg:svgBlip xmlns:asvg="http://schemas.microsoft.com/office/drawing/2016/SVG/main" r:embed="rId35"/>
                </a:ext>
              </a:extLst>
            </a:blip>
            <a:stretch>
              <a:fillRect t="-160" b="-160"/>
            </a:stretch>
          </a:blipFill>
        </p:spPr>
      </p:sp>
      <p:sp>
        <p:nvSpPr>
          <p:cNvPr id="19" name="Freeform 19"/>
          <p:cNvSpPr/>
          <p:nvPr/>
        </p:nvSpPr>
        <p:spPr>
          <a:xfrm>
            <a:off x="13974057" y="1645705"/>
            <a:ext cx="1041772" cy="1206262"/>
          </a:xfrm>
          <a:custGeom>
            <a:avLst/>
            <a:gdLst/>
            <a:ahLst/>
            <a:cxnLst/>
            <a:rect l="l" t="t" r="r" b="b"/>
            <a:pathLst>
              <a:path w="1041772" h="1206262">
                <a:moveTo>
                  <a:pt x="0" y="0"/>
                </a:moveTo>
                <a:lnTo>
                  <a:pt x="1041772" y="0"/>
                </a:lnTo>
                <a:lnTo>
                  <a:pt x="1041772" y="1206262"/>
                </a:lnTo>
                <a:lnTo>
                  <a:pt x="0" y="1206262"/>
                </a:lnTo>
                <a:lnTo>
                  <a:pt x="0" y="0"/>
                </a:lnTo>
                <a:close/>
              </a:path>
            </a:pathLst>
          </a:custGeom>
          <a:blipFill>
            <a:blip r:embed="rId36">
              <a:extLst>
                <a:ext uri="{96DAC541-7B7A-43D3-8B79-37D633B846F1}">
                  <asvg:svgBlip xmlns:asvg="http://schemas.microsoft.com/office/drawing/2016/SVG/main" r:embed="rId37"/>
                </a:ext>
              </a:extLst>
            </a:blip>
            <a:stretch>
              <a:fillRect l="-145" r="-145"/>
            </a:stretch>
          </a:blipFill>
        </p:spPr>
      </p:sp>
      <p:sp>
        <p:nvSpPr>
          <p:cNvPr id="20" name="Freeform 20"/>
          <p:cNvSpPr/>
          <p:nvPr/>
        </p:nvSpPr>
        <p:spPr>
          <a:xfrm>
            <a:off x="15736496" y="3798866"/>
            <a:ext cx="910639" cy="972798"/>
          </a:xfrm>
          <a:custGeom>
            <a:avLst/>
            <a:gdLst/>
            <a:ahLst/>
            <a:cxnLst/>
            <a:rect l="l" t="t" r="r" b="b"/>
            <a:pathLst>
              <a:path w="910639" h="972798">
                <a:moveTo>
                  <a:pt x="0" y="0"/>
                </a:moveTo>
                <a:lnTo>
                  <a:pt x="910639" y="0"/>
                </a:lnTo>
                <a:lnTo>
                  <a:pt x="910639" y="972798"/>
                </a:lnTo>
                <a:lnTo>
                  <a:pt x="0" y="972798"/>
                </a:lnTo>
                <a:lnTo>
                  <a:pt x="0" y="0"/>
                </a:lnTo>
                <a:close/>
              </a:path>
            </a:pathLst>
          </a:custGeom>
          <a:blipFill>
            <a:blip r:embed="rId38">
              <a:extLst>
                <a:ext uri="{96DAC541-7B7A-43D3-8B79-37D633B846F1}">
                  <asvg:svgBlip xmlns:asvg="http://schemas.microsoft.com/office/drawing/2016/SVG/main" r:embed="rId39"/>
                </a:ext>
              </a:extLst>
            </a:blip>
            <a:stretch>
              <a:fillRect t="-218" b="-218"/>
            </a:stretch>
          </a:blipFill>
        </p:spPr>
      </p:sp>
      <p:grpSp>
        <p:nvGrpSpPr>
          <p:cNvPr id="21" name="Group 21"/>
          <p:cNvGrpSpPr/>
          <p:nvPr/>
        </p:nvGrpSpPr>
        <p:grpSpPr>
          <a:xfrm>
            <a:off x="10167072" y="784732"/>
            <a:ext cx="1869978" cy="1657898"/>
            <a:chOff x="0" y="0"/>
            <a:chExt cx="2493304" cy="2210531"/>
          </a:xfrm>
        </p:grpSpPr>
        <p:sp>
          <p:nvSpPr>
            <p:cNvPr id="22" name="Freeform 22"/>
            <p:cNvSpPr/>
            <p:nvPr/>
          </p:nvSpPr>
          <p:spPr>
            <a:xfrm>
              <a:off x="0" y="0"/>
              <a:ext cx="2493264" cy="2210562"/>
            </a:xfrm>
            <a:custGeom>
              <a:avLst/>
              <a:gdLst/>
              <a:ahLst/>
              <a:cxnLst/>
              <a:rect l="l" t="t" r="r" b="b"/>
              <a:pathLst>
                <a:path w="2493264" h="2210562">
                  <a:moveTo>
                    <a:pt x="0" y="0"/>
                  </a:moveTo>
                  <a:lnTo>
                    <a:pt x="2493264" y="0"/>
                  </a:lnTo>
                  <a:lnTo>
                    <a:pt x="2493264" y="2210562"/>
                  </a:lnTo>
                  <a:lnTo>
                    <a:pt x="0" y="2210562"/>
                  </a:lnTo>
                  <a:lnTo>
                    <a:pt x="0" y="0"/>
                  </a:lnTo>
                  <a:close/>
                </a:path>
              </a:pathLst>
            </a:custGeom>
            <a:blipFill>
              <a:blip r:embed="rId40"/>
              <a:stretch>
                <a:fillRect t="-881" r="-1" b="-880"/>
              </a:stretch>
            </a:blipFill>
          </p:spPr>
        </p:sp>
      </p:grpSp>
      <p:grpSp>
        <p:nvGrpSpPr>
          <p:cNvPr id="23" name="Group 23"/>
          <p:cNvGrpSpPr/>
          <p:nvPr/>
        </p:nvGrpSpPr>
        <p:grpSpPr>
          <a:xfrm>
            <a:off x="6976116" y="0"/>
            <a:ext cx="11311884" cy="10287000"/>
            <a:chOff x="0" y="0"/>
            <a:chExt cx="15082512" cy="13716000"/>
          </a:xfrm>
        </p:grpSpPr>
        <p:sp>
          <p:nvSpPr>
            <p:cNvPr id="24" name="Freeform 24"/>
            <p:cNvSpPr/>
            <p:nvPr/>
          </p:nvSpPr>
          <p:spPr>
            <a:xfrm>
              <a:off x="0" y="0"/>
              <a:ext cx="15082520" cy="13716000"/>
            </a:xfrm>
            <a:custGeom>
              <a:avLst/>
              <a:gdLst/>
              <a:ahLst/>
              <a:cxnLst/>
              <a:rect l="l" t="t" r="r" b="b"/>
              <a:pathLst>
                <a:path w="15082520" h="13716000">
                  <a:moveTo>
                    <a:pt x="0" y="0"/>
                  </a:moveTo>
                  <a:lnTo>
                    <a:pt x="15082520" y="0"/>
                  </a:lnTo>
                  <a:lnTo>
                    <a:pt x="15082520" y="13716000"/>
                  </a:lnTo>
                  <a:lnTo>
                    <a:pt x="0" y="13716000"/>
                  </a:lnTo>
                  <a:close/>
                </a:path>
              </a:pathLst>
            </a:custGeom>
            <a:solidFill>
              <a:srgbClr val="EDECED"/>
            </a:solidFill>
            <a:ln w="12700">
              <a:solidFill>
                <a:srgbClr val="000000"/>
              </a:solidFill>
            </a:ln>
          </p:spPr>
        </p:sp>
      </p:grpSp>
      <p:sp>
        <p:nvSpPr>
          <p:cNvPr id="25" name="Freeform 25"/>
          <p:cNvSpPr/>
          <p:nvPr/>
        </p:nvSpPr>
        <p:spPr>
          <a:xfrm>
            <a:off x="9135448" y="916333"/>
            <a:ext cx="6317901" cy="2141041"/>
          </a:xfrm>
          <a:custGeom>
            <a:avLst/>
            <a:gdLst/>
            <a:ahLst/>
            <a:cxnLst/>
            <a:rect l="l" t="t" r="r" b="b"/>
            <a:pathLst>
              <a:path w="6317901" h="2141041">
                <a:moveTo>
                  <a:pt x="0" y="0"/>
                </a:moveTo>
                <a:lnTo>
                  <a:pt x="6317900" y="0"/>
                </a:lnTo>
                <a:lnTo>
                  <a:pt x="6317900" y="2141041"/>
                </a:lnTo>
                <a:lnTo>
                  <a:pt x="0" y="2141041"/>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grpSp>
        <p:nvGrpSpPr>
          <p:cNvPr id="26" name="Group 26"/>
          <p:cNvGrpSpPr/>
          <p:nvPr/>
        </p:nvGrpSpPr>
        <p:grpSpPr>
          <a:xfrm>
            <a:off x="12037370" y="1107264"/>
            <a:ext cx="2978460" cy="1675384"/>
            <a:chOff x="0" y="0"/>
            <a:chExt cx="3971280" cy="2233845"/>
          </a:xfrm>
        </p:grpSpPr>
        <p:sp>
          <p:nvSpPr>
            <p:cNvPr id="27" name="Freeform 27"/>
            <p:cNvSpPr/>
            <p:nvPr/>
          </p:nvSpPr>
          <p:spPr>
            <a:xfrm>
              <a:off x="0" y="0"/>
              <a:ext cx="3971290" cy="2233803"/>
            </a:xfrm>
            <a:custGeom>
              <a:avLst/>
              <a:gdLst/>
              <a:ahLst/>
              <a:cxnLst/>
              <a:rect l="l" t="t" r="r" b="b"/>
              <a:pathLst>
                <a:path w="3971290" h="2233803">
                  <a:moveTo>
                    <a:pt x="0" y="0"/>
                  </a:moveTo>
                  <a:lnTo>
                    <a:pt x="3971290" y="0"/>
                  </a:lnTo>
                  <a:lnTo>
                    <a:pt x="3971290" y="2233803"/>
                  </a:lnTo>
                  <a:lnTo>
                    <a:pt x="0" y="2233803"/>
                  </a:lnTo>
                  <a:lnTo>
                    <a:pt x="0" y="0"/>
                  </a:lnTo>
                  <a:close/>
                </a:path>
              </a:pathLst>
            </a:custGeom>
            <a:blipFill>
              <a:blip r:embed="rId43"/>
              <a:stretch>
                <a:fillRect b="-1"/>
              </a:stretch>
            </a:blipFill>
          </p:spPr>
        </p:sp>
      </p:grpSp>
      <p:grpSp>
        <p:nvGrpSpPr>
          <p:cNvPr id="28" name="Group 28"/>
          <p:cNvGrpSpPr/>
          <p:nvPr/>
        </p:nvGrpSpPr>
        <p:grpSpPr>
          <a:xfrm>
            <a:off x="9777795" y="1194069"/>
            <a:ext cx="1837572" cy="1657898"/>
            <a:chOff x="0" y="0"/>
            <a:chExt cx="2450096" cy="2210531"/>
          </a:xfrm>
        </p:grpSpPr>
        <p:sp>
          <p:nvSpPr>
            <p:cNvPr id="29" name="Freeform 29"/>
            <p:cNvSpPr/>
            <p:nvPr/>
          </p:nvSpPr>
          <p:spPr>
            <a:xfrm>
              <a:off x="0" y="0"/>
              <a:ext cx="2450084" cy="2210562"/>
            </a:xfrm>
            <a:custGeom>
              <a:avLst/>
              <a:gdLst/>
              <a:ahLst/>
              <a:cxnLst/>
              <a:rect l="l" t="t" r="r" b="b"/>
              <a:pathLst>
                <a:path w="2450084" h="2210562">
                  <a:moveTo>
                    <a:pt x="0" y="0"/>
                  </a:moveTo>
                  <a:lnTo>
                    <a:pt x="2450084" y="0"/>
                  </a:lnTo>
                  <a:lnTo>
                    <a:pt x="2450084" y="2210562"/>
                  </a:lnTo>
                  <a:lnTo>
                    <a:pt x="0" y="2210562"/>
                  </a:lnTo>
                  <a:lnTo>
                    <a:pt x="0" y="0"/>
                  </a:lnTo>
                  <a:close/>
                </a:path>
              </a:pathLst>
            </a:custGeom>
            <a:blipFill>
              <a:blip r:embed="rId40"/>
              <a:stretch>
                <a:fillRect b="1"/>
              </a:stretch>
            </a:blipFill>
          </p:spPr>
        </p:sp>
      </p:grpSp>
      <p:sp>
        <p:nvSpPr>
          <p:cNvPr id="30" name="Freeform 30"/>
          <p:cNvSpPr/>
          <p:nvPr/>
        </p:nvSpPr>
        <p:spPr>
          <a:xfrm>
            <a:off x="5600271" y="7189589"/>
            <a:ext cx="3779189" cy="2141041"/>
          </a:xfrm>
          <a:custGeom>
            <a:avLst/>
            <a:gdLst/>
            <a:ahLst/>
            <a:cxnLst/>
            <a:rect l="l" t="t" r="r" b="b"/>
            <a:pathLst>
              <a:path w="3779189" h="2141041">
                <a:moveTo>
                  <a:pt x="0" y="0"/>
                </a:moveTo>
                <a:lnTo>
                  <a:pt x="3779188" y="0"/>
                </a:lnTo>
                <a:lnTo>
                  <a:pt x="3779188" y="2141041"/>
                </a:lnTo>
                <a:lnTo>
                  <a:pt x="0" y="2141041"/>
                </a:lnTo>
                <a:lnTo>
                  <a:pt x="0" y="0"/>
                </a:lnTo>
                <a:close/>
              </a:path>
            </a:pathLst>
          </a:custGeom>
          <a:blipFill>
            <a:blip r:embed="rId44">
              <a:extLst>
                <a:ext uri="{96DAC541-7B7A-43D3-8B79-37D633B846F1}">
                  <asvg:svgBlip xmlns:asvg="http://schemas.microsoft.com/office/drawing/2016/SVG/main" r:embed="rId45"/>
                </a:ext>
              </a:extLst>
            </a:blip>
            <a:stretch>
              <a:fillRect/>
            </a:stretch>
          </a:blipFill>
        </p:spPr>
      </p:sp>
      <p:sp>
        <p:nvSpPr>
          <p:cNvPr id="31" name="Freeform 31"/>
          <p:cNvSpPr/>
          <p:nvPr/>
        </p:nvSpPr>
        <p:spPr>
          <a:xfrm>
            <a:off x="10652328" y="7189589"/>
            <a:ext cx="5630153" cy="2846069"/>
          </a:xfrm>
          <a:custGeom>
            <a:avLst/>
            <a:gdLst/>
            <a:ahLst/>
            <a:cxnLst/>
            <a:rect l="l" t="t" r="r" b="b"/>
            <a:pathLst>
              <a:path w="5630153" h="2846069">
                <a:moveTo>
                  <a:pt x="0" y="0"/>
                </a:moveTo>
                <a:lnTo>
                  <a:pt x="5630152" y="0"/>
                </a:lnTo>
                <a:lnTo>
                  <a:pt x="5630152" y="2846069"/>
                </a:lnTo>
                <a:lnTo>
                  <a:pt x="0" y="2846069"/>
                </a:lnTo>
                <a:lnTo>
                  <a:pt x="0" y="0"/>
                </a:lnTo>
                <a:close/>
              </a:path>
            </a:pathLst>
          </a:custGeom>
          <a:blipFill>
            <a:blip r:embed="rId46">
              <a:extLst>
                <a:ext uri="{96DAC541-7B7A-43D3-8B79-37D633B846F1}">
                  <asvg:svgBlip xmlns:asvg="http://schemas.microsoft.com/office/drawing/2016/SVG/main" r:embed="rId47"/>
                </a:ext>
              </a:extLst>
            </a:blip>
            <a:stretch>
              <a:fillRect/>
            </a:stretch>
          </a:blipFill>
        </p:spPr>
      </p:sp>
      <p:grpSp>
        <p:nvGrpSpPr>
          <p:cNvPr id="32" name="Group 32"/>
          <p:cNvGrpSpPr/>
          <p:nvPr/>
        </p:nvGrpSpPr>
        <p:grpSpPr>
          <a:xfrm>
            <a:off x="760245" y="6354189"/>
            <a:ext cx="3609139" cy="3609139"/>
            <a:chOff x="0" y="0"/>
            <a:chExt cx="4812185" cy="4812185"/>
          </a:xfrm>
        </p:grpSpPr>
        <p:sp>
          <p:nvSpPr>
            <p:cNvPr id="33" name="Freeform 33"/>
            <p:cNvSpPr/>
            <p:nvPr/>
          </p:nvSpPr>
          <p:spPr>
            <a:xfrm>
              <a:off x="0" y="0"/>
              <a:ext cx="4812157" cy="4812157"/>
            </a:xfrm>
            <a:custGeom>
              <a:avLst/>
              <a:gdLst/>
              <a:ahLst/>
              <a:cxnLst/>
              <a:rect l="l" t="t" r="r" b="b"/>
              <a:pathLst>
                <a:path w="4812157" h="4812157">
                  <a:moveTo>
                    <a:pt x="0" y="0"/>
                  </a:moveTo>
                  <a:lnTo>
                    <a:pt x="4812157" y="0"/>
                  </a:lnTo>
                  <a:lnTo>
                    <a:pt x="4812157" y="4812157"/>
                  </a:lnTo>
                  <a:lnTo>
                    <a:pt x="0" y="4812157"/>
                  </a:lnTo>
                  <a:lnTo>
                    <a:pt x="0" y="0"/>
                  </a:lnTo>
                  <a:close/>
                </a:path>
              </a:pathLst>
            </a:custGeom>
            <a:blipFill>
              <a:blip r:embed="rId48"/>
              <a:stretch>
                <a:fillRect/>
              </a:stretch>
            </a:blipFill>
          </p:spPr>
        </p:sp>
      </p:grpSp>
      <p:grpSp>
        <p:nvGrpSpPr>
          <p:cNvPr id="34" name="Group 34"/>
          <p:cNvGrpSpPr/>
          <p:nvPr/>
        </p:nvGrpSpPr>
        <p:grpSpPr>
          <a:xfrm>
            <a:off x="9758745" y="3779816"/>
            <a:ext cx="38100" cy="2142237"/>
            <a:chOff x="0" y="0"/>
            <a:chExt cx="50800" cy="2856316"/>
          </a:xfrm>
        </p:grpSpPr>
        <p:sp>
          <p:nvSpPr>
            <p:cNvPr id="35" name="Freeform 35"/>
            <p:cNvSpPr/>
            <p:nvPr/>
          </p:nvSpPr>
          <p:spPr>
            <a:xfrm>
              <a:off x="0" y="25400"/>
              <a:ext cx="50800" cy="2805557"/>
            </a:xfrm>
            <a:custGeom>
              <a:avLst/>
              <a:gdLst/>
              <a:ahLst/>
              <a:cxnLst/>
              <a:rect l="l" t="t" r="r" b="b"/>
              <a:pathLst>
                <a:path w="50800" h="2805557">
                  <a:moveTo>
                    <a:pt x="50800" y="0"/>
                  </a:moveTo>
                  <a:lnTo>
                    <a:pt x="50800" y="2805557"/>
                  </a:lnTo>
                  <a:lnTo>
                    <a:pt x="0" y="2805557"/>
                  </a:lnTo>
                  <a:lnTo>
                    <a:pt x="0" y="0"/>
                  </a:lnTo>
                  <a:close/>
                </a:path>
              </a:pathLst>
            </a:custGeom>
            <a:solidFill>
              <a:srgbClr val="000000"/>
            </a:solidFill>
            <a:ln w="12700">
              <a:solidFill>
                <a:srgbClr val="000000"/>
              </a:solidFill>
            </a:ln>
          </p:spPr>
        </p:sp>
      </p:grpSp>
      <p:grpSp>
        <p:nvGrpSpPr>
          <p:cNvPr id="36" name="Group 36"/>
          <p:cNvGrpSpPr/>
          <p:nvPr/>
        </p:nvGrpSpPr>
        <p:grpSpPr>
          <a:xfrm>
            <a:off x="3994268" y="7519816"/>
            <a:ext cx="1561994" cy="819790"/>
            <a:chOff x="0" y="0"/>
            <a:chExt cx="2082659" cy="1093053"/>
          </a:xfrm>
        </p:grpSpPr>
        <p:sp>
          <p:nvSpPr>
            <p:cNvPr id="37" name="Freeform 37"/>
            <p:cNvSpPr/>
            <p:nvPr/>
          </p:nvSpPr>
          <p:spPr>
            <a:xfrm>
              <a:off x="13843" y="2794"/>
              <a:ext cx="2054987" cy="1087501"/>
            </a:xfrm>
            <a:custGeom>
              <a:avLst/>
              <a:gdLst/>
              <a:ahLst/>
              <a:cxnLst/>
              <a:rect l="l" t="t" r="r" b="b"/>
              <a:pathLst>
                <a:path w="2054987" h="1087501">
                  <a:moveTo>
                    <a:pt x="2031873" y="1087501"/>
                  </a:moveTo>
                  <a:lnTo>
                    <a:pt x="0" y="45212"/>
                  </a:lnTo>
                  <a:lnTo>
                    <a:pt x="23114" y="0"/>
                  </a:lnTo>
                  <a:lnTo>
                    <a:pt x="2054987" y="1042289"/>
                  </a:lnTo>
                  <a:close/>
                </a:path>
              </a:pathLst>
            </a:custGeom>
            <a:solidFill>
              <a:srgbClr val="000000"/>
            </a:solidFill>
            <a:ln w="12700">
              <a:solidFill>
                <a:srgbClr val="000000"/>
              </a:solidFill>
            </a:ln>
          </p:spPr>
        </p:sp>
      </p:grpSp>
      <p:grpSp>
        <p:nvGrpSpPr>
          <p:cNvPr id="38" name="Group 38"/>
          <p:cNvGrpSpPr/>
          <p:nvPr/>
        </p:nvGrpSpPr>
        <p:grpSpPr>
          <a:xfrm>
            <a:off x="9207502" y="8135172"/>
            <a:ext cx="1394756" cy="77138"/>
            <a:chOff x="0" y="0"/>
            <a:chExt cx="1859675" cy="102851"/>
          </a:xfrm>
        </p:grpSpPr>
        <p:sp>
          <p:nvSpPr>
            <p:cNvPr id="39" name="Freeform 39"/>
            <p:cNvSpPr/>
            <p:nvPr/>
          </p:nvSpPr>
          <p:spPr>
            <a:xfrm>
              <a:off x="24638" y="0"/>
              <a:ext cx="1810385" cy="102870"/>
            </a:xfrm>
            <a:custGeom>
              <a:avLst/>
              <a:gdLst/>
              <a:ahLst/>
              <a:cxnLst/>
              <a:rect l="l" t="t" r="r" b="b"/>
              <a:pathLst>
                <a:path w="1810385" h="102870">
                  <a:moveTo>
                    <a:pt x="1808861" y="102870"/>
                  </a:moveTo>
                  <a:lnTo>
                    <a:pt x="0" y="50800"/>
                  </a:lnTo>
                  <a:lnTo>
                    <a:pt x="1524" y="0"/>
                  </a:lnTo>
                  <a:lnTo>
                    <a:pt x="1810385" y="52070"/>
                  </a:lnTo>
                  <a:close/>
                </a:path>
              </a:pathLst>
            </a:custGeom>
            <a:solidFill>
              <a:srgbClr val="000000"/>
            </a:solidFill>
            <a:ln w="12700">
              <a:solidFill>
                <a:srgbClr val="000000"/>
              </a:solidFill>
            </a:ln>
          </p:spPr>
        </p:sp>
      </p:grpSp>
      <p:grpSp>
        <p:nvGrpSpPr>
          <p:cNvPr id="40" name="Group 40"/>
          <p:cNvGrpSpPr/>
          <p:nvPr/>
        </p:nvGrpSpPr>
        <p:grpSpPr>
          <a:xfrm>
            <a:off x="15361967" y="2897225"/>
            <a:ext cx="1642348" cy="1893489"/>
            <a:chOff x="0" y="0"/>
            <a:chExt cx="2189797" cy="2524652"/>
          </a:xfrm>
        </p:grpSpPr>
        <p:sp>
          <p:nvSpPr>
            <p:cNvPr id="41" name="Freeform 41"/>
            <p:cNvSpPr/>
            <p:nvPr/>
          </p:nvSpPr>
          <p:spPr>
            <a:xfrm>
              <a:off x="6223" y="8763"/>
              <a:ext cx="2177415" cy="2507107"/>
            </a:xfrm>
            <a:custGeom>
              <a:avLst/>
              <a:gdLst/>
              <a:ahLst/>
              <a:cxnLst/>
              <a:rect l="l" t="t" r="r" b="b"/>
              <a:pathLst>
                <a:path w="2177415" h="2507107">
                  <a:moveTo>
                    <a:pt x="2177415" y="33274"/>
                  </a:moveTo>
                  <a:lnTo>
                    <a:pt x="38354" y="2507107"/>
                  </a:lnTo>
                  <a:lnTo>
                    <a:pt x="0" y="2473833"/>
                  </a:lnTo>
                  <a:lnTo>
                    <a:pt x="2138934" y="0"/>
                  </a:lnTo>
                  <a:close/>
                </a:path>
              </a:pathLst>
            </a:custGeom>
            <a:solidFill>
              <a:srgbClr val="000000"/>
            </a:solidFill>
            <a:ln w="12700">
              <a:solidFill>
                <a:srgbClr val="000000"/>
              </a:solidFill>
            </a:ln>
          </p:spPr>
        </p:sp>
      </p:grpSp>
      <p:grpSp>
        <p:nvGrpSpPr>
          <p:cNvPr id="42" name="Group 42"/>
          <p:cNvGrpSpPr/>
          <p:nvPr/>
        </p:nvGrpSpPr>
        <p:grpSpPr>
          <a:xfrm>
            <a:off x="15377465" y="2128963"/>
            <a:ext cx="1626850" cy="759174"/>
            <a:chOff x="0" y="0"/>
            <a:chExt cx="2169133" cy="1012232"/>
          </a:xfrm>
        </p:grpSpPr>
        <p:sp>
          <p:nvSpPr>
            <p:cNvPr id="43" name="Freeform 43"/>
            <p:cNvSpPr/>
            <p:nvPr/>
          </p:nvSpPr>
          <p:spPr>
            <a:xfrm>
              <a:off x="14859" y="2286"/>
              <a:ext cx="2139442" cy="1007618"/>
            </a:xfrm>
            <a:custGeom>
              <a:avLst/>
              <a:gdLst/>
              <a:ahLst/>
              <a:cxnLst/>
              <a:rect l="l" t="t" r="r" b="b"/>
              <a:pathLst>
                <a:path w="2139442" h="1007618">
                  <a:moveTo>
                    <a:pt x="2118360" y="1007618"/>
                  </a:moveTo>
                  <a:lnTo>
                    <a:pt x="0" y="46228"/>
                  </a:lnTo>
                  <a:lnTo>
                    <a:pt x="21082" y="0"/>
                  </a:lnTo>
                  <a:lnTo>
                    <a:pt x="2139442" y="961390"/>
                  </a:lnTo>
                  <a:close/>
                </a:path>
              </a:pathLst>
            </a:custGeom>
            <a:solidFill>
              <a:srgbClr val="000000"/>
            </a:solidFill>
            <a:ln w="12700">
              <a:solidFill>
                <a:srgbClr val="000000"/>
              </a:solidFill>
            </a:ln>
          </p:spPr>
        </p:sp>
      </p:grpSp>
      <p:grpSp>
        <p:nvGrpSpPr>
          <p:cNvPr id="44" name="Group 44"/>
          <p:cNvGrpSpPr/>
          <p:nvPr/>
        </p:nvGrpSpPr>
        <p:grpSpPr>
          <a:xfrm>
            <a:off x="9806370" y="3898345"/>
            <a:ext cx="10201402" cy="1975061"/>
            <a:chOff x="0" y="0"/>
            <a:chExt cx="13601869" cy="2633415"/>
          </a:xfrm>
        </p:grpSpPr>
        <p:sp>
          <p:nvSpPr>
            <p:cNvPr id="45" name="Freeform 45"/>
            <p:cNvSpPr/>
            <p:nvPr/>
          </p:nvSpPr>
          <p:spPr>
            <a:xfrm>
              <a:off x="0" y="0"/>
              <a:ext cx="13601827" cy="2633456"/>
            </a:xfrm>
            <a:custGeom>
              <a:avLst/>
              <a:gdLst/>
              <a:ahLst/>
              <a:cxnLst/>
              <a:rect l="l" t="t" r="r" b="b"/>
              <a:pathLst>
                <a:path w="13601827" h="2633456">
                  <a:moveTo>
                    <a:pt x="0" y="0"/>
                  </a:moveTo>
                  <a:lnTo>
                    <a:pt x="13601827" y="0"/>
                  </a:lnTo>
                  <a:lnTo>
                    <a:pt x="13601827" y="2633456"/>
                  </a:lnTo>
                  <a:lnTo>
                    <a:pt x="0" y="2633456"/>
                  </a:lnTo>
                  <a:lnTo>
                    <a:pt x="0" y="0"/>
                  </a:lnTo>
                  <a:close/>
                </a:path>
              </a:pathLst>
            </a:custGeom>
            <a:blipFill>
              <a:blip r:embed="rId49"/>
              <a:stretch>
                <a:fillRect t="-103437" b="-103434"/>
              </a:stretch>
            </a:blipFill>
          </p:spPr>
        </p:sp>
      </p:grpSp>
      <p:grpSp>
        <p:nvGrpSpPr>
          <p:cNvPr id="46" name="Group 46"/>
          <p:cNvGrpSpPr/>
          <p:nvPr/>
        </p:nvGrpSpPr>
        <p:grpSpPr>
          <a:xfrm>
            <a:off x="3994268" y="4752615"/>
            <a:ext cx="5759485" cy="2805302"/>
            <a:chOff x="0" y="0"/>
            <a:chExt cx="7679313" cy="3740403"/>
          </a:xfrm>
        </p:grpSpPr>
        <p:sp>
          <p:nvSpPr>
            <p:cNvPr id="47" name="Freeform 47"/>
            <p:cNvSpPr/>
            <p:nvPr/>
          </p:nvSpPr>
          <p:spPr>
            <a:xfrm>
              <a:off x="14351" y="2540"/>
              <a:ext cx="7650607" cy="3735324"/>
            </a:xfrm>
            <a:custGeom>
              <a:avLst/>
              <a:gdLst/>
              <a:ahLst/>
              <a:cxnLst/>
              <a:rect l="l" t="t" r="r" b="b"/>
              <a:pathLst>
                <a:path w="7650607" h="3735324">
                  <a:moveTo>
                    <a:pt x="7650607" y="45720"/>
                  </a:moveTo>
                  <a:lnTo>
                    <a:pt x="22098" y="3735324"/>
                  </a:lnTo>
                  <a:lnTo>
                    <a:pt x="0" y="3689604"/>
                  </a:lnTo>
                  <a:lnTo>
                    <a:pt x="7628509" y="0"/>
                  </a:lnTo>
                  <a:close/>
                </a:path>
              </a:pathLst>
            </a:custGeom>
            <a:solidFill>
              <a:srgbClr val="000000"/>
            </a:solidFill>
            <a:ln w="12700">
              <a:solidFill>
                <a:srgbClr val="000000"/>
              </a:solidFill>
            </a:ln>
          </p:spPr>
        </p:sp>
      </p:grpSp>
      <p:grpSp>
        <p:nvGrpSpPr>
          <p:cNvPr id="48" name="Group 48"/>
          <p:cNvGrpSpPr/>
          <p:nvPr/>
        </p:nvGrpSpPr>
        <p:grpSpPr>
          <a:xfrm>
            <a:off x="9770122" y="3812620"/>
            <a:ext cx="5735289" cy="38100"/>
            <a:chOff x="0" y="0"/>
            <a:chExt cx="7647052" cy="50800"/>
          </a:xfrm>
        </p:grpSpPr>
        <p:sp>
          <p:nvSpPr>
            <p:cNvPr id="49" name="Freeform 49"/>
            <p:cNvSpPr/>
            <p:nvPr/>
          </p:nvSpPr>
          <p:spPr>
            <a:xfrm>
              <a:off x="25400" y="0"/>
              <a:ext cx="7596251" cy="50800"/>
            </a:xfrm>
            <a:custGeom>
              <a:avLst/>
              <a:gdLst/>
              <a:ahLst/>
              <a:cxnLst/>
              <a:rect l="l" t="t" r="r" b="b"/>
              <a:pathLst>
                <a:path w="7596251" h="50800">
                  <a:moveTo>
                    <a:pt x="7596251" y="50800"/>
                  </a:moveTo>
                  <a:lnTo>
                    <a:pt x="0" y="50800"/>
                  </a:lnTo>
                  <a:lnTo>
                    <a:pt x="0" y="0"/>
                  </a:lnTo>
                  <a:lnTo>
                    <a:pt x="7596251" y="0"/>
                  </a:lnTo>
                  <a:close/>
                </a:path>
              </a:pathLst>
            </a:custGeom>
            <a:solidFill>
              <a:srgbClr val="000000"/>
            </a:solidFill>
            <a:ln w="12700">
              <a:solidFill>
                <a:srgbClr val="000000"/>
              </a:solidFill>
            </a:ln>
          </p:spPr>
        </p:sp>
      </p:grpSp>
      <p:grpSp>
        <p:nvGrpSpPr>
          <p:cNvPr id="50" name="Group 50"/>
          <p:cNvGrpSpPr/>
          <p:nvPr/>
        </p:nvGrpSpPr>
        <p:grpSpPr>
          <a:xfrm>
            <a:off x="15396515" y="3812620"/>
            <a:ext cx="38100" cy="2142237"/>
            <a:chOff x="0" y="0"/>
            <a:chExt cx="50800" cy="2856316"/>
          </a:xfrm>
        </p:grpSpPr>
        <p:sp>
          <p:nvSpPr>
            <p:cNvPr id="51" name="Freeform 51"/>
            <p:cNvSpPr/>
            <p:nvPr/>
          </p:nvSpPr>
          <p:spPr>
            <a:xfrm>
              <a:off x="0" y="25400"/>
              <a:ext cx="50800" cy="2805557"/>
            </a:xfrm>
            <a:custGeom>
              <a:avLst/>
              <a:gdLst/>
              <a:ahLst/>
              <a:cxnLst/>
              <a:rect l="l" t="t" r="r" b="b"/>
              <a:pathLst>
                <a:path w="50800" h="2805557">
                  <a:moveTo>
                    <a:pt x="50800" y="0"/>
                  </a:moveTo>
                  <a:lnTo>
                    <a:pt x="50800" y="2805557"/>
                  </a:lnTo>
                  <a:lnTo>
                    <a:pt x="0" y="2805557"/>
                  </a:lnTo>
                  <a:lnTo>
                    <a:pt x="0" y="0"/>
                  </a:lnTo>
                  <a:close/>
                </a:path>
              </a:pathLst>
            </a:custGeom>
            <a:solidFill>
              <a:srgbClr val="000000"/>
            </a:solidFill>
            <a:ln w="12700">
              <a:solidFill>
                <a:srgbClr val="000000"/>
              </a:solidFill>
            </a:ln>
          </p:spPr>
        </p:sp>
      </p:grpSp>
      <p:grpSp>
        <p:nvGrpSpPr>
          <p:cNvPr id="52" name="Group 52"/>
          <p:cNvGrpSpPr/>
          <p:nvPr/>
        </p:nvGrpSpPr>
        <p:grpSpPr>
          <a:xfrm>
            <a:off x="9664778" y="5883953"/>
            <a:ext cx="5735289" cy="38100"/>
            <a:chOff x="0" y="0"/>
            <a:chExt cx="7647052" cy="50800"/>
          </a:xfrm>
        </p:grpSpPr>
        <p:sp>
          <p:nvSpPr>
            <p:cNvPr id="53" name="Freeform 53"/>
            <p:cNvSpPr/>
            <p:nvPr/>
          </p:nvSpPr>
          <p:spPr>
            <a:xfrm>
              <a:off x="25400" y="0"/>
              <a:ext cx="7596251" cy="50800"/>
            </a:xfrm>
            <a:custGeom>
              <a:avLst/>
              <a:gdLst/>
              <a:ahLst/>
              <a:cxnLst/>
              <a:rect l="l" t="t" r="r" b="b"/>
              <a:pathLst>
                <a:path w="7596251" h="50800">
                  <a:moveTo>
                    <a:pt x="7596251" y="50800"/>
                  </a:moveTo>
                  <a:lnTo>
                    <a:pt x="0" y="50800"/>
                  </a:lnTo>
                  <a:lnTo>
                    <a:pt x="0" y="0"/>
                  </a:lnTo>
                  <a:lnTo>
                    <a:pt x="7596251" y="0"/>
                  </a:lnTo>
                  <a:close/>
                </a:path>
              </a:pathLst>
            </a:custGeom>
            <a:solidFill>
              <a:srgbClr val="000000"/>
            </a:solidFill>
            <a:ln w="12700">
              <a:solidFill>
                <a:srgbClr val="000000"/>
              </a:solidFill>
            </a:ln>
          </p:spPr>
        </p:sp>
      </p:grpSp>
      <p:grpSp>
        <p:nvGrpSpPr>
          <p:cNvPr id="54" name="Group 54"/>
          <p:cNvGrpSpPr/>
          <p:nvPr/>
        </p:nvGrpSpPr>
        <p:grpSpPr>
          <a:xfrm>
            <a:off x="5923659" y="7647093"/>
            <a:ext cx="3059249" cy="1318411"/>
            <a:chOff x="0" y="0"/>
            <a:chExt cx="4078999" cy="1757881"/>
          </a:xfrm>
        </p:grpSpPr>
        <p:sp>
          <p:nvSpPr>
            <p:cNvPr id="55" name="Freeform 55"/>
            <p:cNvSpPr/>
            <p:nvPr/>
          </p:nvSpPr>
          <p:spPr>
            <a:xfrm>
              <a:off x="0" y="0"/>
              <a:ext cx="4078986" cy="1757934"/>
            </a:xfrm>
            <a:custGeom>
              <a:avLst/>
              <a:gdLst/>
              <a:ahLst/>
              <a:cxnLst/>
              <a:rect l="l" t="t" r="r" b="b"/>
              <a:pathLst>
                <a:path w="4078986" h="1757934">
                  <a:moveTo>
                    <a:pt x="0" y="0"/>
                  </a:moveTo>
                  <a:lnTo>
                    <a:pt x="4078986" y="0"/>
                  </a:lnTo>
                  <a:lnTo>
                    <a:pt x="4078986" y="1757934"/>
                  </a:lnTo>
                  <a:lnTo>
                    <a:pt x="0" y="1757934"/>
                  </a:lnTo>
                  <a:lnTo>
                    <a:pt x="0" y="0"/>
                  </a:lnTo>
                  <a:close/>
                </a:path>
              </a:pathLst>
            </a:custGeom>
            <a:blipFill>
              <a:blip r:embed="rId50"/>
              <a:stretch>
                <a:fillRect t="-994" b="-991"/>
              </a:stretch>
            </a:blipFill>
          </p:spPr>
        </p:sp>
      </p:grpSp>
      <p:grpSp>
        <p:nvGrpSpPr>
          <p:cNvPr id="56" name="Group 56"/>
          <p:cNvGrpSpPr/>
          <p:nvPr/>
        </p:nvGrpSpPr>
        <p:grpSpPr>
          <a:xfrm>
            <a:off x="10844197" y="7514224"/>
            <a:ext cx="1787861" cy="1787861"/>
            <a:chOff x="0" y="0"/>
            <a:chExt cx="2383815" cy="2383815"/>
          </a:xfrm>
        </p:grpSpPr>
        <p:sp>
          <p:nvSpPr>
            <p:cNvPr id="57" name="Freeform 57"/>
            <p:cNvSpPr/>
            <p:nvPr/>
          </p:nvSpPr>
          <p:spPr>
            <a:xfrm>
              <a:off x="0" y="0"/>
              <a:ext cx="2383790" cy="2383790"/>
            </a:xfrm>
            <a:custGeom>
              <a:avLst/>
              <a:gdLst/>
              <a:ahLst/>
              <a:cxnLst/>
              <a:rect l="l" t="t" r="r" b="b"/>
              <a:pathLst>
                <a:path w="2383790" h="2383790">
                  <a:moveTo>
                    <a:pt x="0" y="0"/>
                  </a:moveTo>
                  <a:lnTo>
                    <a:pt x="2383790" y="0"/>
                  </a:lnTo>
                  <a:lnTo>
                    <a:pt x="2383790" y="2383790"/>
                  </a:lnTo>
                  <a:lnTo>
                    <a:pt x="0" y="2383790"/>
                  </a:lnTo>
                  <a:lnTo>
                    <a:pt x="0" y="0"/>
                  </a:lnTo>
                  <a:close/>
                </a:path>
              </a:pathLst>
            </a:custGeom>
            <a:blipFill>
              <a:blip r:embed="rId51"/>
              <a:stretch>
                <a:fillRect r="-1" b="-1"/>
              </a:stretch>
            </a:blipFill>
          </p:spPr>
        </p:sp>
      </p:grpSp>
      <p:sp>
        <p:nvSpPr>
          <p:cNvPr id="58" name="TextBox 58"/>
          <p:cNvSpPr txBox="1"/>
          <p:nvPr/>
        </p:nvSpPr>
        <p:spPr>
          <a:xfrm>
            <a:off x="893376" y="3099579"/>
            <a:ext cx="4912356" cy="2705100"/>
          </a:xfrm>
          <a:prstGeom prst="rect">
            <a:avLst/>
          </a:prstGeom>
        </p:spPr>
        <p:txBody>
          <a:bodyPr lIns="0" tIns="0" rIns="0" bIns="0" rtlCol="0" anchor="t">
            <a:spAutoFit/>
          </a:bodyPr>
          <a:lstStyle/>
          <a:p>
            <a:pPr algn="l">
              <a:lnSpc>
                <a:spcPts val="4200"/>
              </a:lnSpc>
            </a:pPr>
            <a:r>
              <a:rPr lang="en-US" sz="3000">
                <a:solidFill>
                  <a:srgbClr val="800020"/>
                </a:solidFill>
                <a:latin typeface="Clear Sans"/>
                <a:ea typeface="Clear Sans"/>
                <a:cs typeface="Clear Sans"/>
                <a:sym typeface="Clear Sans"/>
              </a:rPr>
              <a:t>AtliQ’s overall product distribution flow — from manufacturing to retailers, direct stores, and customers.</a:t>
            </a:r>
          </a:p>
        </p:txBody>
      </p:sp>
      <p:grpSp>
        <p:nvGrpSpPr>
          <p:cNvPr id="59" name="Group 59"/>
          <p:cNvGrpSpPr/>
          <p:nvPr/>
        </p:nvGrpSpPr>
        <p:grpSpPr>
          <a:xfrm>
            <a:off x="4040443" y="1725107"/>
            <a:ext cx="5166678" cy="5817694"/>
            <a:chOff x="0" y="0"/>
            <a:chExt cx="6888904" cy="7756925"/>
          </a:xfrm>
        </p:grpSpPr>
        <p:sp>
          <p:nvSpPr>
            <p:cNvPr id="60" name="Freeform 60"/>
            <p:cNvSpPr/>
            <p:nvPr/>
          </p:nvSpPr>
          <p:spPr>
            <a:xfrm>
              <a:off x="6350" y="8509"/>
              <a:ext cx="6876161" cy="7739888"/>
            </a:xfrm>
            <a:custGeom>
              <a:avLst/>
              <a:gdLst/>
              <a:ahLst/>
              <a:cxnLst/>
              <a:rect l="l" t="t" r="r" b="b"/>
              <a:pathLst>
                <a:path w="6876161" h="7739888">
                  <a:moveTo>
                    <a:pt x="6876161" y="33782"/>
                  </a:moveTo>
                  <a:lnTo>
                    <a:pt x="38100" y="7739888"/>
                  </a:lnTo>
                  <a:lnTo>
                    <a:pt x="0" y="7706106"/>
                  </a:lnTo>
                  <a:lnTo>
                    <a:pt x="6838188" y="0"/>
                  </a:lnTo>
                  <a:close/>
                </a:path>
              </a:pathLst>
            </a:custGeom>
            <a:solidFill>
              <a:srgbClr val="000000"/>
            </a:solidFill>
            <a:ln w="12700">
              <a:solidFill>
                <a:srgbClr val="000000"/>
              </a:solidFill>
            </a:ln>
          </p:spPr>
        </p:sp>
      </p:grpSp>
      <p:grpSp>
        <p:nvGrpSpPr>
          <p:cNvPr id="61" name="Group 61"/>
          <p:cNvGrpSpPr/>
          <p:nvPr/>
        </p:nvGrpSpPr>
        <p:grpSpPr>
          <a:xfrm>
            <a:off x="14755421" y="7647093"/>
            <a:ext cx="1349426" cy="1349426"/>
            <a:chOff x="0" y="0"/>
            <a:chExt cx="1799235" cy="1799235"/>
          </a:xfrm>
        </p:grpSpPr>
        <p:sp>
          <p:nvSpPr>
            <p:cNvPr id="62" name="Freeform 62"/>
            <p:cNvSpPr/>
            <p:nvPr/>
          </p:nvSpPr>
          <p:spPr>
            <a:xfrm>
              <a:off x="0" y="0"/>
              <a:ext cx="1799209" cy="1799209"/>
            </a:xfrm>
            <a:custGeom>
              <a:avLst/>
              <a:gdLst/>
              <a:ahLst/>
              <a:cxnLst/>
              <a:rect l="l" t="t" r="r" b="b"/>
              <a:pathLst>
                <a:path w="1799209" h="1799209">
                  <a:moveTo>
                    <a:pt x="0" y="0"/>
                  </a:moveTo>
                  <a:lnTo>
                    <a:pt x="1799209" y="0"/>
                  </a:lnTo>
                  <a:lnTo>
                    <a:pt x="1799209" y="1799209"/>
                  </a:lnTo>
                  <a:lnTo>
                    <a:pt x="0" y="1799209"/>
                  </a:lnTo>
                  <a:lnTo>
                    <a:pt x="0" y="0"/>
                  </a:lnTo>
                  <a:close/>
                </a:path>
              </a:pathLst>
            </a:custGeom>
            <a:blipFill>
              <a:blip r:embed="rId52"/>
              <a:stretch>
                <a:fillRect r="-1" b="-1"/>
              </a:stretch>
            </a:blipFill>
          </p:spPr>
        </p:sp>
      </p:grpSp>
      <p:grpSp>
        <p:nvGrpSpPr>
          <p:cNvPr id="63" name="Group 63"/>
          <p:cNvGrpSpPr/>
          <p:nvPr/>
        </p:nvGrpSpPr>
        <p:grpSpPr>
          <a:xfrm>
            <a:off x="15415565" y="3496765"/>
            <a:ext cx="2962732" cy="3086100"/>
            <a:chOff x="0" y="0"/>
            <a:chExt cx="780308" cy="812800"/>
          </a:xfrm>
        </p:grpSpPr>
        <p:sp>
          <p:nvSpPr>
            <p:cNvPr id="64" name="Freeform 64"/>
            <p:cNvSpPr/>
            <p:nvPr/>
          </p:nvSpPr>
          <p:spPr>
            <a:xfrm>
              <a:off x="0" y="0"/>
              <a:ext cx="780308" cy="812800"/>
            </a:xfrm>
            <a:custGeom>
              <a:avLst/>
              <a:gdLst/>
              <a:ahLst/>
              <a:cxnLst/>
              <a:rect l="l" t="t" r="r" b="b"/>
              <a:pathLst>
                <a:path w="780308" h="812800">
                  <a:moveTo>
                    <a:pt x="0" y="0"/>
                  </a:moveTo>
                  <a:lnTo>
                    <a:pt x="780308" y="0"/>
                  </a:lnTo>
                  <a:lnTo>
                    <a:pt x="780308" y="812800"/>
                  </a:lnTo>
                  <a:lnTo>
                    <a:pt x="0" y="812800"/>
                  </a:lnTo>
                  <a:close/>
                </a:path>
              </a:pathLst>
            </a:custGeom>
            <a:solidFill>
              <a:srgbClr val="EDECED"/>
            </a:solidFill>
          </p:spPr>
        </p:sp>
        <p:sp>
          <p:nvSpPr>
            <p:cNvPr id="65" name="TextBox 65"/>
            <p:cNvSpPr txBox="1"/>
            <p:nvPr/>
          </p:nvSpPr>
          <p:spPr>
            <a:xfrm>
              <a:off x="0" y="-38100"/>
              <a:ext cx="780308"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66" name="Group 66"/>
          <p:cNvGrpSpPr/>
          <p:nvPr/>
        </p:nvGrpSpPr>
        <p:grpSpPr>
          <a:xfrm>
            <a:off x="16191100" y="2742796"/>
            <a:ext cx="813215" cy="6690444"/>
            <a:chOff x="0" y="0"/>
            <a:chExt cx="1084287" cy="8920592"/>
          </a:xfrm>
        </p:grpSpPr>
        <p:sp>
          <p:nvSpPr>
            <p:cNvPr id="67" name="Freeform 67"/>
            <p:cNvSpPr/>
            <p:nvPr/>
          </p:nvSpPr>
          <p:spPr>
            <a:xfrm>
              <a:off x="127" y="22479"/>
              <a:ext cx="1083945" cy="8875649"/>
            </a:xfrm>
            <a:custGeom>
              <a:avLst/>
              <a:gdLst/>
              <a:ahLst/>
              <a:cxnLst/>
              <a:rect l="l" t="t" r="r" b="b"/>
              <a:pathLst>
                <a:path w="1083945" h="8875649">
                  <a:moveTo>
                    <a:pt x="1083945" y="5842"/>
                  </a:moveTo>
                  <a:lnTo>
                    <a:pt x="50546" y="8875649"/>
                  </a:lnTo>
                  <a:lnTo>
                    <a:pt x="0" y="8869807"/>
                  </a:lnTo>
                  <a:lnTo>
                    <a:pt x="1033526" y="0"/>
                  </a:lnTo>
                  <a:close/>
                </a:path>
              </a:pathLst>
            </a:custGeom>
            <a:solidFill>
              <a:srgbClr val="000000"/>
            </a:solidFill>
            <a:ln w="12700">
              <a:solidFill>
                <a:srgbClr val="000000"/>
              </a:solidFill>
            </a:ln>
          </p:spPr>
        </p:sp>
      </p:grpSp>
      <p:grpSp>
        <p:nvGrpSpPr>
          <p:cNvPr id="68" name="Group 68"/>
          <p:cNvGrpSpPr/>
          <p:nvPr/>
        </p:nvGrpSpPr>
        <p:grpSpPr>
          <a:xfrm>
            <a:off x="15361967" y="2888137"/>
            <a:ext cx="1716315" cy="1932576"/>
            <a:chOff x="0" y="0"/>
            <a:chExt cx="6888904" cy="7756925"/>
          </a:xfrm>
        </p:grpSpPr>
        <p:sp>
          <p:nvSpPr>
            <p:cNvPr id="69" name="Freeform 69"/>
            <p:cNvSpPr/>
            <p:nvPr/>
          </p:nvSpPr>
          <p:spPr>
            <a:xfrm>
              <a:off x="6350" y="8509"/>
              <a:ext cx="6876161" cy="7739888"/>
            </a:xfrm>
            <a:custGeom>
              <a:avLst/>
              <a:gdLst/>
              <a:ahLst/>
              <a:cxnLst/>
              <a:rect l="l" t="t" r="r" b="b"/>
              <a:pathLst>
                <a:path w="6876161" h="7739888">
                  <a:moveTo>
                    <a:pt x="6876161" y="33782"/>
                  </a:moveTo>
                  <a:lnTo>
                    <a:pt x="38100" y="7739888"/>
                  </a:lnTo>
                  <a:lnTo>
                    <a:pt x="0" y="7706106"/>
                  </a:lnTo>
                  <a:lnTo>
                    <a:pt x="6838188" y="0"/>
                  </a:lnTo>
                  <a:close/>
                </a:path>
              </a:pathLst>
            </a:custGeom>
            <a:solidFill>
              <a:srgbClr val="000000"/>
            </a:solidFill>
            <a:ln w="12700">
              <a:solidFill>
                <a:srgbClr val="000000"/>
              </a:solidFill>
            </a:ln>
          </p:spPr>
        </p:sp>
      </p:grpSp>
      <p:sp>
        <p:nvSpPr>
          <p:cNvPr id="70" name="Freeform 70"/>
          <p:cNvSpPr/>
          <p:nvPr/>
        </p:nvSpPr>
        <p:spPr>
          <a:xfrm>
            <a:off x="16376331" y="424050"/>
            <a:ext cx="1911669" cy="2473175"/>
          </a:xfrm>
          <a:custGeom>
            <a:avLst/>
            <a:gdLst/>
            <a:ahLst/>
            <a:cxnLst/>
            <a:rect l="l" t="t" r="r" b="b"/>
            <a:pathLst>
              <a:path w="1911669" h="2473175">
                <a:moveTo>
                  <a:pt x="0" y="0"/>
                </a:moveTo>
                <a:lnTo>
                  <a:pt x="1911669" y="0"/>
                </a:lnTo>
                <a:lnTo>
                  <a:pt x="1911669" y="2473175"/>
                </a:lnTo>
                <a:lnTo>
                  <a:pt x="0" y="2473175"/>
                </a:lnTo>
                <a:lnTo>
                  <a:pt x="0" y="0"/>
                </a:lnTo>
                <a:close/>
              </a:path>
            </a:pathLst>
          </a:custGeom>
          <a:blipFill>
            <a:blip r:embed="rId53">
              <a:extLst>
                <a:ext uri="{96DAC541-7B7A-43D3-8B79-37D633B846F1}">
                  <asvg:svgBlip xmlns:asvg="http://schemas.microsoft.com/office/drawing/2016/SVG/main" r:embed="rId54"/>
                </a:ext>
              </a:extLst>
            </a:blip>
            <a:stretch>
              <a:fillRect/>
            </a:stretch>
          </a:blipFill>
        </p:spPr>
      </p:sp>
      <p:sp>
        <p:nvSpPr>
          <p:cNvPr id="71" name="TextBox 71"/>
          <p:cNvSpPr txBox="1"/>
          <p:nvPr/>
        </p:nvSpPr>
        <p:spPr>
          <a:xfrm>
            <a:off x="871852" y="570843"/>
            <a:ext cx="5958656" cy="1879600"/>
          </a:xfrm>
          <a:prstGeom prst="rect">
            <a:avLst/>
          </a:prstGeom>
        </p:spPr>
        <p:txBody>
          <a:bodyPr lIns="0" tIns="0" rIns="0" bIns="0" rtlCol="0" anchor="t">
            <a:spAutoFit/>
          </a:bodyPr>
          <a:lstStyle/>
          <a:p>
            <a:pPr algn="l">
              <a:lnSpc>
                <a:spcPts val="7699"/>
              </a:lnSpc>
            </a:pPr>
            <a:r>
              <a:rPr lang="en-US" sz="6998">
                <a:solidFill>
                  <a:srgbClr val="800020"/>
                </a:solidFill>
                <a:latin typeface="Hammersmith One"/>
                <a:ea typeface="Hammersmith One"/>
                <a:cs typeface="Hammersmith One"/>
                <a:sym typeface="Hammersmith One"/>
              </a:rPr>
              <a:t>Distribution Channels</a:t>
            </a:r>
          </a:p>
        </p:txBody>
      </p:sp>
      <p:sp>
        <p:nvSpPr>
          <p:cNvPr id="72" name="TextBox 72"/>
          <p:cNvSpPr txBox="1"/>
          <p:nvPr/>
        </p:nvSpPr>
        <p:spPr>
          <a:xfrm>
            <a:off x="12532422" y="7868169"/>
            <a:ext cx="2717125" cy="975195"/>
          </a:xfrm>
          <a:prstGeom prst="rect">
            <a:avLst/>
          </a:prstGeom>
        </p:spPr>
        <p:txBody>
          <a:bodyPr lIns="0" tIns="0" rIns="0" bIns="0" rtlCol="0" anchor="t">
            <a:spAutoFit/>
          </a:bodyPr>
          <a:lstStyle/>
          <a:p>
            <a:pPr algn="ctr">
              <a:lnSpc>
                <a:spcPts val="7067"/>
              </a:lnSpc>
            </a:pPr>
            <a:r>
              <a:rPr lang="en-US" sz="5048" b="1">
                <a:solidFill>
                  <a:srgbClr val="355C65"/>
                </a:solidFill>
                <a:latin typeface="Canva Sans Bold"/>
                <a:ea typeface="Canva Sans Bold"/>
                <a:cs typeface="Canva Sans Bold"/>
                <a:sym typeface="Canva Sans Bold"/>
              </a:rPr>
              <a:t>Teri Naki</a:t>
            </a:r>
          </a:p>
        </p:txBody>
      </p:sp>
      <p:sp>
        <p:nvSpPr>
          <p:cNvPr id="73" name="TextBox 73"/>
          <p:cNvSpPr txBox="1"/>
          <p:nvPr/>
        </p:nvSpPr>
        <p:spPr>
          <a:xfrm>
            <a:off x="1174071" y="9509303"/>
            <a:ext cx="4084705" cy="755650"/>
          </a:xfrm>
          <a:prstGeom prst="rect">
            <a:avLst/>
          </a:prstGeom>
        </p:spPr>
        <p:txBody>
          <a:bodyPr lIns="0" tIns="0" rIns="0" bIns="0" rtlCol="0" anchor="t">
            <a:spAutoFit/>
          </a:bodyPr>
          <a:lstStyle/>
          <a:p>
            <a:pPr algn="ctr">
              <a:lnSpc>
                <a:spcPts val="5598"/>
              </a:lnSpc>
            </a:pPr>
            <a:r>
              <a:rPr lang="en-US" sz="3999" b="1">
                <a:solidFill>
                  <a:srgbClr val="800020"/>
                </a:solidFill>
                <a:latin typeface="Canva Sans Bold"/>
                <a:ea typeface="Canva Sans Bold"/>
                <a:cs typeface="Canva Sans Bold"/>
                <a:sym typeface="Canva Sans Bold"/>
              </a:rPr>
              <a:t>Atliq Hardware</a:t>
            </a:r>
          </a:p>
        </p:txBody>
      </p:sp>
      <p:sp>
        <p:nvSpPr>
          <p:cNvPr id="74" name="TextBox 74"/>
          <p:cNvSpPr txBox="1"/>
          <p:nvPr/>
        </p:nvSpPr>
        <p:spPr>
          <a:xfrm>
            <a:off x="9994697" y="258230"/>
            <a:ext cx="4084705" cy="755650"/>
          </a:xfrm>
          <a:prstGeom prst="rect">
            <a:avLst/>
          </a:prstGeom>
        </p:spPr>
        <p:txBody>
          <a:bodyPr lIns="0" tIns="0" rIns="0" bIns="0" rtlCol="0" anchor="t">
            <a:spAutoFit/>
          </a:bodyPr>
          <a:lstStyle/>
          <a:p>
            <a:pPr algn="ctr">
              <a:lnSpc>
                <a:spcPts val="5598"/>
              </a:lnSpc>
            </a:pPr>
            <a:r>
              <a:rPr lang="en-US" sz="3999" b="1">
                <a:solidFill>
                  <a:srgbClr val="000000"/>
                </a:solidFill>
                <a:latin typeface="Canva Sans Bold"/>
                <a:ea typeface="Canva Sans Bold"/>
                <a:cs typeface="Canva Sans Bold"/>
                <a:sym typeface="Canva Sans Bold"/>
              </a:rPr>
              <a:t> Retailer</a:t>
            </a:r>
          </a:p>
        </p:txBody>
      </p:sp>
      <p:sp>
        <p:nvSpPr>
          <p:cNvPr id="75" name="TextBox 75"/>
          <p:cNvSpPr txBox="1"/>
          <p:nvPr/>
        </p:nvSpPr>
        <p:spPr>
          <a:xfrm>
            <a:off x="11251659" y="3013619"/>
            <a:ext cx="2274940" cy="755650"/>
          </a:xfrm>
          <a:prstGeom prst="rect">
            <a:avLst/>
          </a:prstGeom>
        </p:spPr>
        <p:txBody>
          <a:bodyPr lIns="0" tIns="0" rIns="0" bIns="0" rtlCol="0" anchor="t">
            <a:spAutoFit/>
          </a:bodyPr>
          <a:lstStyle/>
          <a:p>
            <a:pPr algn="ctr">
              <a:lnSpc>
                <a:spcPts val="5598"/>
              </a:lnSpc>
            </a:pPr>
            <a:r>
              <a:rPr lang="en-US" sz="3999" b="1">
                <a:solidFill>
                  <a:srgbClr val="000000"/>
                </a:solidFill>
                <a:latin typeface="Canva Sans Bold"/>
                <a:ea typeface="Canva Sans Bold"/>
                <a:cs typeface="Canva Sans Bold"/>
                <a:sym typeface="Canva Sans Bold"/>
              </a:rPr>
              <a:t> Direct</a:t>
            </a:r>
          </a:p>
        </p:txBody>
      </p:sp>
      <p:sp>
        <p:nvSpPr>
          <p:cNvPr id="76" name="TextBox 76"/>
          <p:cNvSpPr txBox="1"/>
          <p:nvPr/>
        </p:nvSpPr>
        <p:spPr>
          <a:xfrm>
            <a:off x="5668420" y="6532278"/>
            <a:ext cx="4109375" cy="755650"/>
          </a:xfrm>
          <a:prstGeom prst="rect">
            <a:avLst/>
          </a:prstGeom>
        </p:spPr>
        <p:txBody>
          <a:bodyPr lIns="0" tIns="0" rIns="0" bIns="0" rtlCol="0" anchor="t">
            <a:spAutoFit/>
          </a:bodyPr>
          <a:lstStyle/>
          <a:p>
            <a:pPr algn="ctr">
              <a:lnSpc>
                <a:spcPts val="5598"/>
              </a:lnSpc>
            </a:pPr>
            <a:r>
              <a:rPr lang="en-US" sz="3999" b="1">
                <a:solidFill>
                  <a:srgbClr val="000000"/>
                </a:solidFill>
                <a:latin typeface="Canva Sans Bold"/>
                <a:ea typeface="Canva Sans Bold"/>
                <a:cs typeface="Canva Sans Bold"/>
                <a:sym typeface="Canva Sans Bold"/>
              </a:rPr>
              <a:t> Distributer</a:t>
            </a:r>
          </a:p>
        </p:txBody>
      </p:sp>
      <p:sp>
        <p:nvSpPr>
          <p:cNvPr id="77" name="Rectangle 76">
            <a:extLst>
              <a:ext uri="{FF2B5EF4-FFF2-40B4-BE49-F238E27FC236}">
                <a16:creationId xmlns:a16="http://schemas.microsoft.com/office/drawing/2014/main" id="{7F1EDED3-FDC8-82A3-6299-30996DE23E5B}"/>
              </a:ext>
            </a:extLst>
          </p:cNvPr>
          <p:cNvSpPr/>
          <p:nvPr/>
        </p:nvSpPr>
        <p:spPr>
          <a:xfrm>
            <a:off x="18274446" y="3837448"/>
            <a:ext cx="2103521" cy="269465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9" name="Straight Connector 78">
            <a:extLst>
              <a:ext uri="{FF2B5EF4-FFF2-40B4-BE49-F238E27FC236}">
                <a16:creationId xmlns:a16="http://schemas.microsoft.com/office/drawing/2014/main" id="{16008501-F403-EFC1-A72E-E2AE86D82AFE}"/>
              </a:ext>
            </a:extLst>
          </p:cNvPr>
          <p:cNvCxnSpPr>
            <a:cxnSpLocks/>
          </p:cNvCxnSpPr>
          <p:nvPr/>
        </p:nvCxnSpPr>
        <p:spPr>
          <a:xfrm flipH="1">
            <a:off x="18269987" y="3352104"/>
            <a:ext cx="18013" cy="346584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ransition spd="slow">
    <p:comb/>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Freeform 2"/>
          <p:cNvSpPr/>
          <p:nvPr/>
        </p:nvSpPr>
        <p:spPr>
          <a:xfrm>
            <a:off x="1196115" y="2441219"/>
            <a:ext cx="11021203" cy="814506"/>
          </a:xfrm>
          <a:custGeom>
            <a:avLst/>
            <a:gdLst/>
            <a:ahLst/>
            <a:cxnLst/>
            <a:rect l="l" t="t" r="r" b="b"/>
            <a:pathLst>
              <a:path w="11021203" h="814506">
                <a:moveTo>
                  <a:pt x="0" y="0"/>
                </a:moveTo>
                <a:lnTo>
                  <a:pt x="11021203" y="0"/>
                </a:lnTo>
                <a:lnTo>
                  <a:pt x="11021203" y="814506"/>
                </a:lnTo>
                <a:lnTo>
                  <a:pt x="0" y="814506"/>
                </a:lnTo>
                <a:lnTo>
                  <a:pt x="0" y="0"/>
                </a:lnTo>
                <a:close/>
              </a:path>
            </a:pathLst>
          </a:custGeom>
          <a:blipFill>
            <a:blip r:embed="rId2">
              <a:extLst>
                <a:ext uri="{96DAC541-7B7A-43D3-8B79-37D633B846F1}">
                  <asvg:svgBlip xmlns:asvg="http://schemas.microsoft.com/office/drawing/2016/SVG/main" r:embed="rId3"/>
                </a:ext>
              </a:extLst>
            </a:blip>
            <a:stretch>
              <a:fillRect t="-626557" b="-626557"/>
            </a:stretch>
          </a:blipFill>
        </p:spPr>
      </p:sp>
      <p:sp>
        <p:nvSpPr>
          <p:cNvPr id="3" name="Freeform 3"/>
          <p:cNvSpPr/>
          <p:nvPr/>
        </p:nvSpPr>
        <p:spPr>
          <a:xfrm>
            <a:off x="0" y="9784680"/>
            <a:ext cx="18556364" cy="515295"/>
          </a:xfrm>
          <a:custGeom>
            <a:avLst/>
            <a:gdLst/>
            <a:ahLst/>
            <a:cxnLst/>
            <a:rect l="l" t="t" r="r" b="b"/>
            <a:pathLst>
              <a:path w="18556364" h="515295">
                <a:moveTo>
                  <a:pt x="0" y="0"/>
                </a:moveTo>
                <a:lnTo>
                  <a:pt x="18556364" y="0"/>
                </a:lnTo>
                <a:lnTo>
                  <a:pt x="18556364" y="515295"/>
                </a:lnTo>
                <a:lnTo>
                  <a:pt x="0" y="515295"/>
                </a:lnTo>
                <a:lnTo>
                  <a:pt x="0" y="0"/>
                </a:lnTo>
                <a:close/>
              </a:path>
            </a:pathLst>
          </a:custGeom>
          <a:blipFill>
            <a:blip r:embed="rId2">
              <a:extLst>
                <a:ext uri="{96DAC541-7B7A-43D3-8B79-37D633B846F1}">
                  <asvg:svgBlip xmlns:asvg="http://schemas.microsoft.com/office/drawing/2016/SVG/main" r:embed="rId3"/>
                </a:ext>
              </a:extLst>
            </a:blip>
            <a:stretch>
              <a:fillRect t="-1750557" b="-1750557"/>
            </a:stretch>
          </a:blipFill>
        </p:spPr>
      </p:sp>
      <p:sp>
        <p:nvSpPr>
          <p:cNvPr id="4" name="Freeform 4"/>
          <p:cNvSpPr/>
          <p:nvPr/>
        </p:nvSpPr>
        <p:spPr>
          <a:xfrm>
            <a:off x="1494207" y="4839234"/>
            <a:ext cx="513679" cy="413745"/>
          </a:xfrm>
          <a:custGeom>
            <a:avLst/>
            <a:gdLst/>
            <a:ahLst/>
            <a:cxnLst/>
            <a:rect l="l" t="t" r="r" b="b"/>
            <a:pathLst>
              <a:path w="513679" h="413745">
                <a:moveTo>
                  <a:pt x="0" y="0"/>
                </a:moveTo>
                <a:lnTo>
                  <a:pt x="513679" y="0"/>
                </a:lnTo>
                <a:lnTo>
                  <a:pt x="513679" y="413745"/>
                </a:lnTo>
                <a:lnTo>
                  <a:pt x="0" y="413745"/>
                </a:lnTo>
                <a:lnTo>
                  <a:pt x="0" y="0"/>
                </a:lnTo>
                <a:close/>
              </a:path>
            </a:pathLst>
          </a:custGeom>
          <a:blipFill>
            <a:blip r:embed="rId4">
              <a:extLst>
                <a:ext uri="{96DAC541-7B7A-43D3-8B79-37D633B846F1}">
                  <asvg:svgBlip xmlns:asvg="http://schemas.microsoft.com/office/drawing/2016/SVG/main" r:embed="rId5"/>
                </a:ext>
              </a:extLst>
            </a:blip>
            <a:stretch>
              <a:fillRect t="-2880" b="-2880"/>
            </a:stretch>
          </a:blipFill>
        </p:spPr>
      </p:sp>
      <p:grpSp>
        <p:nvGrpSpPr>
          <p:cNvPr id="5" name="Group 5"/>
          <p:cNvGrpSpPr/>
          <p:nvPr/>
        </p:nvGrpSpPr>
        <p:grpSpPr>
          <a:xfrm>
            <a:off x="1853304" y="5569993"/>
            <a:ext cx="353352" cy="512930"/>
            <a:chOff x="0" y="0"/>
            <a:chExt cx="471136" cy="683907"/>
          </a:xfrm>
        </p:grpSpPr>
        <p:sp>
          <p:nvSpPr>
            <p:cNvPr id="6" name="Freeform 6"/>
            <p:cNvSpPr/>
            <p:nvPr/>
          </p:nvSpPr>
          <p:spPr>
            <a:xfrm>
              <a:off x="0" y="0"/>
              <a:ext cx="471170" cy="683895"/>
            </a:xfrm>
            <a:custGeom>
              <a:avLst/>
              <a:gdLst/>
              <a:ahLst/>
              <a:cxnLst/>
              <a:rect l="l" t="t" r="r" b="b"/>
              <a:pathLst>
                <a:path w="471170" h="683895">
                  <a:moveTo>
                    <a:pt x="0" y="0"/>
                  </a:moveTo>
                  <a:lnTo>
                    <a:pt x="471170" y="0"/>
                  </a:lnTo>
                  <a:lnTo>
                    <a:pt x="471170" y="683895"/>
                  </a:lnTo>
                  <a:lnTo>
                    <a:pt x="0" y="683895"/>
                  </a:lnTo>
                  <a:lnTo>
                    <a:pt x="0" y="0"/>
                  </a:lnTo>
                  <a:close/>
                </a:path>
              </a:pathLst>
            </a:custGeom>
            <a:blipFill>
              <a:blip r:embed="rId6"/>
              <a:stretch>
                <a:fillRect l="-179" r="-171" b="-1"/>
              </a:stretch>
            </a:blipFill>
          </p:spPr>
        </p:sp>
      </p:grpSp>
      <p:grpSp>
        <p:nvGrpSpPr>
          <p:cNvPr id="7" name="Group 7"/>
          <p:cNvGrpSpPr/>
          <p:nvPr/>
        </p:nvGrpSpPr>
        <p:grpSpPr>
          <a:xfrm>
            <a:off x="1684803" y="6610536"/>
            <a:ext cx="690355" cy="690355"/>
            <a:chOff x="0" y="0"/>
            <a:chExt cx="920473" cy="920473"/>
          </a:xfrm>
        </p:grpSpPr>
        <p:sp>
          <p:nvSpPr>
            <p:cNvPr id="8" name="Freeform 8"/>
            <p:cNvSpPr/>
            <p:nvPr/>
          </p:nvSpPr>
          <p:spPr>
            <a:xfrm>
              <a:off x="0" y="0"/>
              <a:ext cx="920496" cy="920496"/>
            </a:xfrm>
            <a:custGeom>
              <a:avLst/>
              <a:gdLst/>
              <a:ahLst/>
              <a:cxnLst/>
              <a:rect l="l" t="t" r="r" b="b"/>
              <a:pathLst>
                <a:path w="920496" h="920496">
                  <a:moveTo>
                    <a:pt x="0" y="0"/>
                  </a:moveTo>
                  <a:lnTo>
                    <a:pt x="920496" y="0"/>
                  </a:lnTo>
                  <a:lnTo>
                    <a:pt x="920496" y="920496"/>
                  </a:lnTo>
                  <a:lnTo>
                    <a:pt x="0" y="920496"/>
                  </a:lnTo>
                  <a:lnTo>
                    <a:pt x="0" y="0"/>
                  </a:lnTo>
                  <a:close/>
                </a:path>
              </a:pathLst>
            </a:custGeom>
            <a:blipFill>
              <a:blip r:embed="rId7"/>
              <a:stretch>
                <a:fillRect r="2" b="2"/>
              </a:stretch>
            </a:blipFill>
          </p:spPr>
        </p:sp>
      </p:grpSp>
      <p:grpSp>
        <p:nvGrpSpPr>
          <p:cNvPr id="9" name="Group 9"/>
          <p:cNvGrpSpPr/>
          <p:nvPr/>
        </p:nvGrpSpPr>
        <p:grpSpPr>
          <a:xfrm>
            <a:off x="6316682" y="5497750"/>
            <a:ext cx="1210850" cy="681103"/>
            <a:chOff x="0" y="0"/>
            <a:chExt cx="1614467" cy="908137"/>
          </a:xfrm>
        </p:grpSpPr>
        <p:sp>
          <p:nvSpPr>
            <p:cNvPr id="10" name="Freeform 10"/>
            <p:cNvSpPr/>
            <p:nvPr/>
          </p:nvSpPr>
          <p:spPr>
            <a:xfrm>
              <a:off x="0" y="0"/>
              <a:ext cx="1614424" cy="908177"/>
            </a:xfrm>
            <a:custGeom>
              <a:avLst/>
              <a:gdLst/>
              <a:ahLst/>
              <a:cxnLst/>
              <a:rect l="l" t="t" r="r" b="b"/>
              <a:pathLst>
                <a:path w="1614424" h="908177">
                  <a:moveTo>
                    <a:pt x="0" y="0"/>
                  </a:moveTo>
                  <a:lnTo>
                    <a:pt x="1614424" y="0"/>
                  </a:lnTo>
                  <a:lnTo>
                    <a:pt x="1614424" y="908177"/>
                  </a:lnTo>
                  <a:lnTo>
                    <a:pt x="0" y="908177"/>
                  </a:lnTo>
                  <a:lnTo>
                    <a:pt x="0" y="0"/>
                  </a:lnTo>
                  <a:close/>
                </a:path>
              </a:pathLst>
            </a:custGeom>
            <a:blipFill>
              <a:blip r:embed="rId8"/>
              <a:stretch>
                <a:fillRect r="-2" b="4"/>
              </a:stretch>
            </a:blipFill>
          </p:spPr>
        </p:sp>
      </p:grpSp>
      <p:grpSp>
        <p:nvGrpSpPr>
          <p:cNvPr id="11" name="Group 11"/>
          <p:cNvGrpSpPr/>
          <p:nvPr/>
        </p:nvGrpSpPr>
        <p:grpSpPr>
          <a:xfrm>
            <a:off x="6491879" y="6610536"/>
            <a:ext cx="638325" cy="752422"/>
            <a:chOff x="0" y="0"/>
            <a:chExt cx="851100" cy="1003229"/>
          </a:xfrm>
        </p:grpSpPr>
        <p:sp>
          <p:nvSpPr>
            <p:cNvPr id="12" name="Freeform 12"/>
            <p:cNvSpPr/>
            <p:nvPr/>
          </p:nvSpPr>
          <p:spPr>
            <a:xfrm>
              <a:off x="0" y="0"/>
              <a:ext cx="851154" cy="1003173"/>
            </a:xfrm>
            <a:custGeom>
              <a:avLst/>
              <a:gdLst/>
              <a:ahLst/>
              <a:cxnLst/>
              <a:rect l="l" t="t" r="r" b="b"/>
              <a:pathLst>
                <a:path w="851154" h="1003173">
                  <a:moveTo>
                    <a:pt x="0" y="0"/>
                  </a:moveTo>
                  <a:lnTo>
                    <a:pt x="851154" y="0"/>
                  </a:lnTo>
                  <a:lnTo>
                    <a:pt x="851154" y="1003173"/>
                  </a:lnTo>
                  <a:lnTo>
                    <a:pt x="0" y="1003173"/>
                  </a:lnTo>
                  <a:lnTo>
                    <a:pt x="0" y="0"/>
                  </a:lnTo>
                  <a:close/>
                </a:path>
              </a:pathLst>
            </a:custGeom>
            <a:blipFill>
              <a:blip r:embed="rId9"/>
              <a:stretch>
                <a:fillRect l="-241" r="-235" b="-5"/>
              </a:stretch>
            </a:blipFill>
          </p:spPr>
        </p:sp>
      </p:grpSp>
      <p:grpSp>
        <p:nvGrpSpPr>
          <p:cNvPr id="13" name="Group 13"/>
          <p:cNvGrpSpPr/>
          <p:nvPr/>
        </p:nvGrpSpPr>
        <p:grpSpPr>
          <a:xfrm>
            <a:off x="6420550" y="7627147"/>
            <a:ext cx="771916" cy="709239"/>
            <a:chOff x="0" y="0"/>
            <a:chExt cx="1029221" cy="945652"/>
          </a:xfrm>
        </p:grpSpPr>
        <p:sp>
          <p:nvSpPr>
            <p:cNvPr id="14" name="Freeform 14"/>
            <p:cNvSpPr/>
            <p:nvPr/>
          </p:nvSpPr>
          <p:spPr>
            <a:xfrm>
              <a:off x="0" y="0"/>
              <a:ext cx="1029208" cy="945642"/>
            </a:xfrm>
            <a:custGeom>
              <a:avLst/>
              <a:gdLst/>
              <a:ahLst/>
              <a:cxnLst/>
              <a:rect l="l" t="t" r="r" b="b"/>
              <a:pathLst>
                <a:path w="1029208" h="945642">
                  <a:moveTo>
                    <a:pt x="0" y="0"/>
                  </a:moveTo>
                  <a:lnTo>
                    <a:pt x="1029208" y="0"/>
                  </a:lnTo>
                  <a:lnTo>
                    <a:pt x="1029208" y="945642"/>
                  </a:lnTo>
                  <a:lnTo>
                    <a:pt x="0" y="945642"/>
                  </a:lnTo>
                  <a:lnTo>
                    <a:pt x="0" y="0"/>
                  </a:lnTo>
                  <a:close/>
                </a:path>
              </a:pathLst>
            </a:custGeom>
            <a:blipFill>
              <a:blip r:embed="rId10"/>
              <a:stretch>
                <a:fillRect t="-232" r="-1" b="-233"/>
              </a:stretch>
            </a:blipFill>
          </p:spPr>
        </p:sp>
      </p:grpSp>
      <p:grpSp>
        <p:nvGrpSpPr>
          <p:cNvPr id="15" name="Group 15"/>
          <p:cNvGrpSpPr/>
          <p:nvPr/>
        </p:nvGrpSpPr>
        <p:grpSpPr>
          <a:xfrm>
            <a:off x="6316682" y="8784514"/>
            <a:ext cx="780069" cy="515295"/>
            <a:chOff x="0" y="0"/>
            <a:chExt cx="1040092" cy="687060"/>
          </a:xfrm>
        </p:grpSpPr>
        <p:sp>
          <p:nvSpPr>
            <p:cNvPr id="16" name="Freeform 16"/>
            <p:cNvSpPr/>
            <p:nvPr/>
          </p:nvSpPr>
          <p:spPr>
            <a:xfrm>
              <a:off x="0" y="0"/>
              <a:ext cx="1040130" cy="687070"/>
            </a:xfrm>
            <a:custGeom>
              <a:avLst/>
              <a:gdLst/>
              <a:ahLst/>
              <a:cxnLst/>
              <a:rect l="l" t="t" r="r" b="b"/>
              <a:pathLst>
                <a:path w="1040130" h="687070">
                  <a:moveTo>
                    <a:pt x="0" y="0"/>
                  </a:moveTo>
                  <a:lnTo>
                    <a:pt x="1040130" y="0"/>
                  </a:lnTo>
                  <a:lnTo>
                    <a:pt x="1040130" y="687070"/>
                  </a:lnTo>
                  <a:lnTo>
                    <a:pt x="0" y="687070"/>
                  </a:lnTo>
                  <a:lnTo>
                    <a:pt x="0" y="0"/>
                  </a:lnTo>
                  <a:close/>
                </a:path>
              </a:pathLst>
            </a:custGeom>
            <a:blipFill>
              <a:blip r:embed="rId11"/>
              <a:stretch>
                <a:fillRect t="-1759" r="3" b="-1758"/>
              </a:stretch>
            </a:blipFill>
          </p:spPr>
        </p:sp>
      </p:grpSp>
      <p:sp>
        <p:nvSpPr>
          <p:cNvPr id="17" name="TextBox 17"/>
          <p:cNvSpPr txBox="1"/>
          <p:nvPr/>
        </p:nvSpPr>
        <p:spPr>
          <a:xfrm>
            <a:off x="1028700" y="1181100"/>
            <a:ext cx="11431092" cy="1136650"/>
          </a:xfrm>
          <a:prstGeom prst="rect">
            <a:avLst/>
          </a:prstGeom>
        </p:spPr>
        <p:txBody>
          <a:bodyPr lIns="0" tIns="0" rIns="0" bIns="0" rtlCol="0" anchor="t">
            <a:spAutoFit/>
          </a:bodyPr>
          <a:lstStyle/>
          <a:p>
            <a:pPr algn="l">
              <a:lnSpc>
                <a:spcPts val="9349"/>
              </a:lnSpc>
            </a:pPr>
            <a:r>
              <a:rPr lang="en-US" sz="8499">
                <a:solidFill>
                  <a:srgbClr val="800020"/>
                </a:solidFill>
                <a:latin typeface="Hammersmith One"/>
                <a:ea typeface="Hammersmith One"/>
                <a:cs typeface="Hammersmith One"/>
                <a:sym typeface="Hammersmith One"/>
              </a:rPr>
              <a:t>Data &amp; Tools Overview</a:t>
            </a:r>
          </a:p>
        </p:txBody>
      </p:sp>
      <p:sp>
        <p:nvSpPr>
          <p:cNvPr id="18" name="TextBox 18"/>
          <p:cNvSpPr txBox="1"/>
          <p:nvPr/>
        </p:nvSpPr>
        <p:spPr>
          <a:xfrm>
            <a:off x="2007885" y="4655899"/>
            <a:ext cx="3931940" cy="647065"/>
          </a:xfrm>
          <a:prstGeom prst="rect">
            <a:avLst/>
          </a:prstGeom>
        </p:spPr>
        <p:txBody>
          <a:bodyPr lIns="0" tIns="0" rIns="0" bIns="0" rtlCol="0" anchor="t">
            <a:spAutoFit/>
          </a:bodyPr>
          <a:lstStyle/>
          <a:p>
            <a:pPr algn="l">
              <a:lnSpc>
                <a:spcPts val="4759"/>
              </a:lnSpc>
            </a:pPr>
            <a:r>
              <a:rPr lang="en-US" sz="3400" b="1">
                <a:solidFill>
                  <a:srgbClr val="800020"/>
                </a:solidFill>
                <a:latin typeface="Canva Sans Bold"/>
                <a:ea typeface="Canva Sans Bold"/>
                <a:cs typeface="Canva Sans Bold"/>
                <a:sym typeface="Canva Sans Bold"/>
              </a:rPr>
              <a:t>Data Sources</a:t>
            </a:r>
          </a:p>
        </p:txBody>
      </p:sp>
      <p:sp>
        <p:nvSpPr>
          <p:cNvPr id="19" name="TextBox 19"/>
          <p:cNvSpPr txBox="1"/>
          <p:nvPr/>
        </p:nvSpPr>
        <p:spPr>
          <a:xfrm>
            <a:off x="12080742" y="4753293"/>
            <a:ext cx="6207258" cy="647065"/>
          </a:xfrm>
          <a:prstGeom prst="rect">
            <a:avLst/>
          </a:prstGeom>
        </p:spPr>
        <p:txBody>
          <a:bodyPr lIns="0" tIns="0" rIns="0" bIns="0" rtlCol="0" anchor="t">
            <a:spAutoFit/>
          </a:bodyPr>
          <a:lstStyle/>
          <a:p>
            <a:pPr algn="l">
              <a:lnSpc>
                <a:spcPts val="4759"/>
              </a:lnSpc>
            </a:pPr>
            <a:r>
              <a:rPr lang="en-US" sz="3400" b="1">
                <a:solidFill>
                  <a:srgbClr val="800020"/>
                </a:solidFill>
                <a:latin typeface="Canva Sans Bold"/>
                <a:ea typeface="Canva Sans Bold"/>
                <a:cs typeface="Canva Sans Bold"/>
                <a:sym typeface="Canva Sans Bold"/>
              </a:rPr>
              <a:t>📅 Fiscal Year Information </a:t>
            </a:r>
          </a:p>
        </p:txBody>
      </p:sp>
      <p:sp>
        <p:nvSpPr>
          <p:cNvPr id="20" name="TextBox 20"/>
          <p:cNvSpPr txBox="1"/>
          <p:nvPr/>
        </p:nvSpPr>
        <p:spPr>
          <a:xfrm>
            <a:off x="6744246" y="4753293"/>
            <a:ext cx="3931940" cy="647065"/>
          </a:xfrm>
          <a:prstGeom prst="rect">
            <a:avLst/>
          </a:prstGeom>
        </p:spPr>
        <p:txBody>
          <a:bodyPr lIns="0" tIns="0" rIns="0" bIns="0" rtlCol="0" anchor="t">
            <a:spAutoFit/>
          </a:bodyPr>
          <a:lstStyle/>
          <a:p>
            <a:pPr algn="l">
              <a:lnSpc>
                <a:spcPts val="4759"/>
              </a:lnSpc>
            </a:pPr>
            <a:r>
              <a:rPr lang="en-US" sz="3400" b="1">
                <a:solidFill>
                  <a:srgbClr val="800020"/>
                </a:solidFill>
                <a:latin typeface="Canva Sans Bold"/>
                <a:ea typeface="Canva Sans Bold"/>
                <a:cs typeface="Canva Sans Bold"/>
                <a:sym typeface="Canva Sans Bold"/>
              </a:rPr>
              <a:t>🛠 Tools Used</a:t>
            </a:r>
          </a:p>
        </p:txBody>
      </p:sp>
      <p:sp>
        <p:nvSpPr>
          <p:cNvPr id="21" name="TextBox 21"/>
          <p:cNvSpPr txBox="1"/>
          <p:nvPr/>
        </p:nvSpPr>
        <p:spPr>
          <a:xfrm>
            <a:off x="2375157" y="5467536"/>
            <a:ext cx="2730243" cy="2171700"/>
          </a:xfrm>
          <a:prstGeom prst="rect">
            <a:avLst/>
          </a:prstGeom>
        </p:spPr>
        <p:txBody>
          <a:bodyPr lIns="0" tIns="0" rIns="0" bIns="0" rtlCol="0" anchor="t">
            <a:spAutoFit/>
          </a:bodyPr>
          <a:lstStyle/>
          <a:p>
            <a:pPr algn="l">
              <a:lnSpc>
                <a:spcPts val="4200"/>
              </a:lnSpc>
            </a:pPr>
            <a:r>
              <a:rPr lang="en-US" sz="3000" b="1">
                <a:solidFill>
                  <a:srgbClr val="800020"/>
                </a:solidFill>
                <a:latin typeface="Canva Sans Bold"/>
                <a:ea typeface="Canva Sans Bold"/>
                <a:cs typeface="Canva Sans Bold"/>
                <a:sym typeface="Canva Sans Bold"/>
              </a:rPr>
              <a:t>SQL Database</a:t>
            </a:r>
          </a:p>
          <a:p>
            <a:pPr algn="l">
              <a:lnSpc>
                <a:spcPts val="4200"/>
              </a:lnSpc>
            </a:pPr>
            <a:endParaRPr lang="en-US" sz="3000" b="1">
              <a:solidFill>
                <a:srgbClr val="800020"/>
              </a:solidFill>
              <a:latin typeface="Canva Sans Bold"/>
              <a:ea typeface="Canva Sans Bold"/>
              <a:cs typeface="Canva Sans Bold"/>
              <a:sym typeface="Canva Sans Bold"/>
            </a:endParaRPr>
          </a:p>
          <a:p>
            <a:pPr algn="l">
              <a:lnSpc>
                <a:spcPts val="4200"/>
              </a:lnSpc>
            </a:pPr>
            <a:r>
              <a:rPr lang="en-US" sz="3000" b="1">
                <a:solidFill>
                  <a:srgbClr val="800020"/>
                </a:solidFill>
                <a:latin typeface="Canva Sans Bold"/>
                <a:ea typeface="Canva Sans Bold"/>
                <a:cs typeface="Canva Sans Bold"/>
                <a:sym typeface="Canva Sans Bold"/>
              </a:rPr>
              <a:t>Excel Files</a:t>
            </a:r>
          </a:p>
          <a:p>
            <a:pPr algn="ctr">
              <a:lnSpc>
                <a:spcPts val="4200"/>
              </a:lnSpc>
            </a:pPr>
            <a:endParaRPr lang="en-US" sz="3000" b="1">
              <a:solidFill>
                <a:srgbClr val="800020"/>
              </a:solidFill>
              <a:latin typeface="Canva Sans Bold"/>
              <a:ea typeface="Canva Sans Bold"/>
              <a:cs typeface="Canva Sans Bold"/>
              <a:sym typeface="Canva Sans Bold"/>
            </a:endParaRPr>
          </a:p>
        </p:txBody>
      </p:sp>
      <p:sp>
        <p:nvSpPr>
          <p:cNvPr id="22" name="TextBox 22"/>
          <p:cNvSpPr txBox="1"/>
          <p:nvPr/>
        </p:nvSpPr>
        <p:spPr>
          <a:xfrm>
            <a:off x="7192466" y="5546014"/>
            <a:ext cx="2942133" cy="4253748"/>
          </a:xfrm>
          <a:prstGeom prst="rect">
            <a:avLst/>
          </a:prstGeom>
        </p:spPr>
        <p:txBody>
          <a:bodyPr lIns="0" tIns="0" rIns="0" bIns="0" rtlCol="0" anchor="t">
            <a:spAutoFit/>
          </a:bodyPr>
          <a:lstStyle/>
          <a:p>
            <a:pPr algn="l">
              <a:lnSpc>
                <a:spcPts val="4200"/>
              </a:lnSpc>
            </a:pPr>
            <a:r>
              <a:rPr lang="en-US" sz="3000" b="1">
                <a:solidFill>
                  <a:srgbClr val="800020"/>
                </a:solidFill>
                <a:latin typeface="Canva Sans Bold"/>
                <a:ea typeface="Canva Sans Bold"/>
                <a:cs typeface="Canva Sans Bold"/>
                <a:sym typeface="Canva Sans Bold"/>
              </a:rPr>
              <a:t>Power BI</a:t>
            </a:r>
          </a:p>
          <a:p>
            <a:pPr algn="l">
              <a:lnSpc>
                <a:spcPts val="4200"/>
              </a:lnSpc>
            </a:pPr>
            <a:endParaRPr lang="en-US" sz="3000" b="1">
              <a:solidFill>
                <a:srgbClr val="800020"/>
              </a:solidFill>
              <a:latin typeface="Canva Sans Bold"/>
              <a:ea typeface="Canva Sans Bold"/>
              <a:cs typeface="Canva Sans Bold"/>
              <a:sym typeface="Canva Sans Bold"/>
            </a:endParaRPr>
          </a:p>
          <a:p>
            <a:pPr algn="l">
              <a:lnSpc>
                <a:spcPts val="4200"/>
              </a:lnSpc>
            </a:pPr>
            <a:r>
              <a:rPr lang="en-US" sz="3000" b="1">
                <a:solidFill>
                  <a:srgbClr val="800020"/>
                </a:solidFill>
                <a:latin typeface="Canva Sans Bold"/>
                <a:ea typeface="Canva Sans Bold"/>
                <a:cs typeface="Canva Sans Bold"/>
                <a:sym typeface="Canva Sans Bold"/>
              </a:rPr>
              <a:t>Power Query</a:t>
            </a:r>
          </a:p>
          <a:p>
            <a:pPr algn="l">
              <a:lnSpc>
                <a:spcPts val="4200"/>
              </a:lnSpc>
            </a:pPr>
            <a:endParaRPr lang="en-US" sz="3000" b="1">
              <a:solidFill>
                <a:srgbClr val="800020"/>
              </a:solidFill>
              <a:latin typeface="Canva Sans Bold"/>
              <a:ea typeface="Canva Sans Bold"/>
              <a:cs typeface="Canva Sans Bold"/>
              <a:sym typeface="Canva Sans Bold"/>
            </a:endParaRPr>
          </a:p>
          <a:p>
            <a:pPr algn="l">
              <a:lnSpc>
                <a:spcPts val="4200"/>
              </a:lnSpc>
            </a:pPr>
            <a:r>
              <a:rPr lang="en-US" sz="3000" b="1">
                <a:solidFill>
                  <a:srgbClr val="800020"/>
                </a:solidFill>
                <a:latin typeface="Canva Sans Bold"/>
                <a:ea typeface="Canva Sans Bold"/>
                <a:cs typeface="Canva Sans Bold"/>
                <a:sym typeface="Canva Sans Bold"/>
              </a:rPr>
              <a:t>DAX Studio</a:t>
            </a:r>
          </a:p>
          <a:p>
            <a:pPr algn="l">
              <a:lnSpc>
                <a:spcPts val="4200"/>
              </a:lnSpc>
            </a:pPr>
            <a:endParaRPr lang="en-US" sz="3000" b="1">
              <a:solidFill>
                <a:srgbClr val="800020"/>
              </a:solidFill>
              <a:latin typeface="Canva Sans Bold"/>
              <a:ea typeface="Canva Sans Bold"/>
              <a:cs typeface="Canva Sans Bold"/>
              <a:sym typeface="Canva Sans Bold"/>
            </a:endParaRPr>
          </a:p>
          <a:p>
            <a:pPr algn="l">
              <a:lnSpc>
                <a:spcPts val="3600"/>
              </a:lnSpc>
            </a:pPr>
            <a:r>
              <a:rPr lang="en-US" sz="3000" b="1">
                <a:solidFill>
                  <a:srgbClr val="800020"/>
                </a:solidFill>
                <a:latin typeface="Canva Sans Bold"/>
                <a:ea typeface="Canva Sans Bold"/>
                <a:cs typeface="Canva Sans Bold"/>
                <a:sym typeface="Canva Sans Bold"/>
              </a:rPr>
              <a:t>MySQL</a:t>
            </a:r>
          </a:p>
          <a:p>
            <a:pPr algn="l">
              <a:lnSpc>
                <a:spcPts val="4200"/>
              </a:lnSpc>
            </a:pPr>
            <a:endParaRPr lang="en-US" sz="3000" b="1">
              <a:solidFill>
                <a:srgbClr val="800020"/>
              </a:solidFill>
              <a:latin typeface="Canva Sans Bold"/>
              <a:ea typeface="Canva Sans Bold"/>
              <a:cs typeface="Canva Sans Bold"/>
              <a:sym typeface="Canva Sans Bold"/>
            </a:endParaRPr>
          </a:p>
        </p:txBody>
      </p:sp>
      <p:sp>
        <p:nvSpPr>
          <p:cNvPr id="23" name="TextBox 23"/>
          <p:cNvSpPr txBox="1"/>
          <p:nvPr/>
        </p:nvSpPr>
        <p:spPr>
          <a:xfrm>
            <a:off x="12515409" y="5584114"/>
            <a:ext cx="4743891" cy="3238500"/>
          </a:xfrm>
          <a:prstGeom prst="rect">
            <a:avLst/>
          </a:prstGeom>
        </p:spPr>
        <p:txBody>
          <a:bodyPr lIns="0" tIns="0" rIns="0" bIns="0" rtlCol="0" anchor="t">
            <a:spAutoFit/>
          </a:bodyPr>
          <a:lstStyle/>
          <a:p>
            <a:pPr marL="685800" lvl="2" indent="-228600" algn="l">
              <a:lnSpc>
                <a:spcPts val="4200"/>
              </a:lnSpc>
              <a:buFont typeface="Arial"/>
              <a:buChar char="⚬"/>
            </a:pPr>
            <a:r>
              <a:rPr lang="en-US" sz="3000" b="1">
                <a:solidFill>
                  <a:srgbClr val="800020"/>
                </a:solidFill>
                <a:latin typeface="Canva Sans Bold"/>
                <a:ea typeface="Canva Sans Bold"/>
                <a:cs typeface="Canva Sans Bold"/>
                <a:sym typeface="Canva Sans Bold"/>
              </a:rPr>
              <a:t>Fiscal year runs from September to August</a:t>
            </a:r>
          </a:p>
          <a:p>
            <a:pPr marL="685800" lvl="2" indent="-228600" algn="l">
              <a:lnSpc>
                <a:spcPts val="4200"/>
              </a:lnSpc>
            </a:pPr>
            <a:endParaRPr lang="en-US" sz="3000" b="1">
              <a:solidFill>
                <a:srgbClr val="800020"/>
              </a:solidFill>
              <a:latin typeface="Canva Sans Bold"/>
              <a:ea typeface="Canva Sans Bold"/>
              <a:cs typeface="Canva Sans Bold"/>
              <a:sym typeface="Canva Sans Bold"/>
            </a:endParaRPr>
          </a:p>
          <a:p>
            <a:pPr marL="685800" lvl="2" indent="-228600" algn="l">
              <a:lnSpc>
                <a:spcPts val="4200"/>
              </a:lnSpc>
              <a:buFont typeface="Arial"/>
              <a:buChar char="⚬"/>
            </a:pPr>
            <a:r>
              <a:rPr lang="en-US" sz="3000" b="1">
                <a:solidFill>
                  <a:srgbClr val="800020"/>
                </a:solidFill>
                <a:latin typeface="Canva Sans Bold"/>
                <a:ea typeface="Canva Sans Bold"/>
                <a:cs typeface="Canva Sans Bold"/>
                <a:sym typeface="Canva Sans Bold"/>
              </a:rPr>
              <a:t>Data covers 2019, 2020, 2021, and 2022 (estimated)</a:t>
            </a:r>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338</Words>
  <Application>Microsoft Office PowerPoint</Application>
  <PresentationFormat>Custom</PresentationFormat>
  <Paragraphs>57</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Canva Sans Bold</vt:lpstr>
      <vt:lpstr>Canva Sans</vt:lpstr>
      <vt:lpstr>Clear Sans</vt:lpstr>
      <vt:lpstr>Clear Sans Bold</vt:lpstr>
      <vt:lpstr>Hammersmith One</vt:lpstr>
      <vt:lpstr>Calibri (MS)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Hardware Business Plan  </dc:title>
  <cp:lastModifiedBy>Naveen jhinjarye</cp:lastModifiedBy>
  <cp:revision>6</cp:revision>
  <dcterms:created xsi:type="dcterms:W3CDTF">2006-08-16T00:00:00Z</dcterms:created>
  <dcterms:modified xsi:type="dcterms:W3CDTF">2025-12-03T14:50:37Z</dcterms:modified>
  <dc:identifier>DAG6ADr7wVI</dc:identifier>
</cp:coreProperties>
</file>